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tous. Je suis ravi de vous présenter ProCible. Imaginez un instant : des millions de vendeurs, de commerçants et de prestataires à travers l'Afrique qui se lèvent chaque matin sans savoir où trouver leur prochain client. Ils passent des heures à chercher manuellement, à poster sur des réseaux sociaux saturés, à attendre un bouche-à-oreille qui ne vient jamais. C'est un problème colossal, et personne ne l'a vraiment résolu. ProCible est né de cette réalité. Nous avons construit la première solution de prospection intelligente conçue spécifiquement pour les entrepreneurs africains. Notre technologie trouve vos clients pour vous, chaque nuit, automatiquement. Plus besoin de chercher. Vos prospects vous attendent le matin. C'est cette promesse que je vais vous détailler aujourd'hui.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Regardez cette image. C'est le quotidien de millions d'entrepreneurs africains. Chaque matin, ils ouvrent leur boutique, allument leur téléphone, et commencent à chercher des clients. Mais comment les trouver ? Ils scrollent pendant des heures sur les réseaux sociaux, ils appellent des contacts qui ne répondent pas, ils postent des annonces noyées dans le bruit. Le résultat ? Deux heures perdues chaque jour, 72% d'entre eux sans aucune stratégie de prospection, et 96 minutes de productivité gaspillées. Ce n'est pas un problème de motivation. Ce n'est pas un problème de talent. C'est un problème d'outils. Ils n'ont tout simplement pas les moyens de trouver efficacement les personnes qui ont besoin de leurs services. Et cette inefficacité, elle a un prix : 40% des PME africaines ferment avant même d'avoir fêté leur premier anniversaire. C'est ce problème que ProCible résout.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chiffres parlent d'eux-mêmes. Quarante pour cent des PME africaines ferment leurs portes avant même d'avoir fêté leur premier anniversaire. Ce n'est pas un problème de financement, c'est un problème de clients. Soixante-douze pour cent des commerçants n'ont absolument aucune stratégie pour trouver de nouveaux clients. Ils survivent au jour le jour, en espérant que le hasard leur envoie un acheteur. Et pendant ce temps, deux heures par jour sont gaspillées dans une prospection manuelle qui ne mène nulle part. Quatre-vingt-seize minutes de productivité perdues chaque jour, simplement parce qu'il n'existe aucun outil adapté à leur réalité. C'est un gouffre économique. Ces entreprises ne meurent pas parce qu'elles sont mauvaises, elles meurent parce qu'elles sont invisibles. Et c'est exactement ce que ProCible vient résoudre.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 si vos clients venaient à vous, au lieu que vous les cherchiez ? C'est exactement ce que fait ProCible. Imaginez : vous vous réveillez le matin, et sur votre téléphone, une liste de prospects qualifiés vous attend. Pas des contacts au hasard, non — des personnes qui correspondent précisément à ce que vous proposez, dans votre ville, votre quartier. Plus besoin de passer deux heures par jour à scroller sur les réseaux sociaux ou à feuilleter des annuaires incomplets. ProCible travaille pour vous pendant que vous dormez. Notre technologie identifie les meilleurs prospects, les évalue, les qualifie, et vous les présente prêts à être contactés. C'est automatique, c'est localisé, et c'est intelligent. Chaque prospect est scoré selon sa pertinence pour votre activité. Vous n'avez plus qu'à conclure. C'est la fin de la prospection manuelle. C'est le début de la prospection intelligente.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Mesdames et messieurs les investisseurs, regardons les chiffres. Le marché mondial du CRM pèse plus de 90 milliards de dollars, avec une croissance de 14% par an. Mais le vrai opportunité, c'est le segment que personne ne sert : les 44 millions de PME en Afrique subsaharienne qui n'ont accès à aucun outil de prospection adapté. Le marché logiciel PME atteindra 152 milliards d'ici 2035. ProCible est positionné exactement à l'intersection de ces deux tendances massives. Et nous ne sommes pas qu'une idée sur papier. Nous couvrons déjà 8 villes au Cameroun — Douala, Yaoundé, Bafoussam et plus — et nous servons 12 secteurs d'activité différents, de la restauration au commerce en passant par la tech. Chaque ville, chaque secteur validé renforce notre preuve de marché. Le segment le plus sous-desservi du CRM mondial, c'est celui que nous conquérons aujourd'hui.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voici au moment décisif. ProCible n'est pas un projet de plus — c'est la première plateforme de prospection construite spécifiquement pour le marché africain. 44 millions de PME attendent une solution qui comprend leur réalité. Nous l'avons construite. Nous avons prouvé la traction avec 8 villes et 12 secteurs au Cameroun. Maintenant, c'est le moment d'accélérer. Le marché mondial du CRM croît de 14% par an, et le segment africain est le dernier grand terrain vierge. L'opportunité est immense, mais la fenêtre ne restera pas ouverte éternellement. Les premiers acteurs définiront les standards. Nous voulons que ce soit nous — et nous voulons le faire avec les bons partenaires à nos côtés. Si vous partagez notre vision d'une Afrique où chaque entrepreneur peut trouver ses clients sans barrière, parlons maintenant. Investir dans ProCible, c'est investir dans l'avenir du commerce africain.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0A1A"/>
        </a:solidFill>
      </p:bgPr>
    </p:bg>
    <p:spTree>
      <p:nvGrpSpPr>
        <p:cNvPr id="1" name=""/>
        <p:cNvGrpSpPr/>
        <p:nvPr/>
      </p:nvGrpSpPr>
      <p:grpSpPr>
        <a:xfrm>
          <a:off x="0" y="0"/>
          <a:ext cx="0" cy="0"/>
          <a:chOff x="0" y="0"/>
          <a:chExt cx="0" cy="0"/>
        </a:xfrm>
      </p:grpSpPr>
      <p:sp>
        <p:nvSpPr>
          <p:cNvPr id="2" name="Text 0"/>
          <p:cNvSpPr/>
          <p:nvPr/>
        </p:nvSpPr>
        <p:spPr>
          <a:xfrm>
            <a:off x="5429250" y="-857250"/>
            <a:ext cx="4286250" cy="4286250"/>
          </a:xfrm>
          <a:prstGeom prst="rect">
            <a:avLst/>
          </a:prstGeom>
          <a:solidFill>
            <a:srgbClr val="FFFFFF">
              <a:alpha val="0"/>
            </a:srgbClr>
          </a:solidFill>
          <a:ln/>
        </p:spPr>
        <p:txBody>
          <a:bodyPr wrap="square" rtlCol="0" anchor="ctr"/>
          <a:lstStyle/>
          <a:p>
            <a:pPr indent="0" marL="0">
              <a:buNone/>
            </a:pPr>
            <a:endParaRPr lang="en-US" dirty="0"/>
          </a:p>
        </p:txBody>
      </p:sp>
      <p:sp>
        <p:nvSpPr>
          <p:cNvPr id="3" name="Text 1"/>
          <p:cNvSpPr/>
          <p:nvPr/>
        </p:nvSpPr>
        <p:spPr>
          <a:xfrm>
            <a:off x="-428625" y="1928813"/>
            <a:ext cx="3929063" cy="3929063"/>
          </a:xfrm>
          <a:prstGeom prst="rect">
            <a:avLst/>
          </a:prstGeom>
          <a:solidFill>
            <a:srgbClr val="FFFFFF">
              <a:alpha val="0"/>
            </a:srgbClr>
          </a:solidFill>
          <a:ln/>
        </p:spPr>
        <p:txBody>
          <a:bodyPr wrap="square" rtlCol="0" anchor="ctr"/>
          <a:lstStyle/>
          <a:p>
            <a:pPr indent="0" marL="0">
              <a:buNone/>
            </a:pPr>
            <a:endParaRPr lang="en-US" dirty="0"/>
          </a:p>
        </p:txBody>
      </p:sp>
      <p:sp>
        <p:nvSpPr>
          <p:cNvPr id="4" name="Text 2"/>
          <p:cNvSpPr/>
          <p:nvPr/>
        </p:nvSpPr>
        <p:spPr>
          <a:xfrm>
            <a:off x="274320" y="1785938"/>
            <a:ext cx="8595137" cy="583225"/>
          </a:xfrm>
          <a:prstGeom prst="rect">
            <a:avLst/>
          </a:prstGeom>
          <a:noFill/>
          <a:ln/>
        </p:spPr>
        <p:txBody>
          <a:bodyPr wrap="none" lIns="0" tIns="0" rIns="0" bIns="0" rtlCol="0" anchor="t"/>
          <a:lstStyle/>
          <a:p>
            <a:pPr algn="ctr" indent="0" marL="0">
              <a:lnSpc>
                <a:spcPts val="4253"/>
              </a:lnSpc>
              <a:buNone/>
            </a:pPr>
            <a:r>
              <a:rPr lang="en-US" sz="4050" b="1" dirty="0">
                <a:solidFill>
                  <a:srgbClr val="FF7B54"/>
                </a:solidFill>
                <a:latin typeface="Carlito" pitchFamily="34" charset="0"/>
                <a:ea typeface="Carlito" pitchFamily="34" charset="-122"/>
                <a:cs typeface="Carlito" pitchFamily="34" charset="-120"/>
              </a:rPr>
              <a:t>ProCible</a:t>
            </a:r>
            <a:endParaRPr lang="en-US" sz="4050" dirty="0"/>
          </a:p>
        </p:txBody>
      </p:sp>
      <p:sp>
        <p:nvSpPr>
          <p:cNvPr id="5" name="Text 3"/>
          <p:cNvSpPr/>
          <p:nvPr/>
        </p:nvSpPr>
        <p:spPr>
          <a:xfrm>
            <a:off x="2792072" y="2497410"/>
            <a:ext cx="3559744" cy="370332"/>
          </a:xfrm>
          <a:prstGeom prst="rect">
            <a:avLst/>
          </a:prstGeom>
          <a:noFill/>
          <a:ln/>
        </p:spPr>
        <p:txBody>
          <a:bodyPr wrap="square" lIns="0" tIns="0" rIns="0" bIns="0" rtlCol="0" anchor="t"/>
          <a:lstStyle/>
          <a:p>
            <a:pPr algn="ctr" indent="0" marL="0">
              <a:lnSpc>
                <a:spcPts val="2700"/>
              </a:lnSpc>
              <a:buNone/>
            </a:pPr>
            <a:r>
              <a:rPr lang="en-US" sz="1800" spc="-18" kern="0" dirty="0">
                <a:solidFill>
                  <a:srgbClr val="FFFFFF">
                    <a:alpha val="55000"/>
                  </a:srgbClr>
                </a:solidFill>
                <a:latin typeface="Carlito" pitchFamily="34" charset="0"/>
                <a:ea typeface="Carlito" pitchFamily="34" charset="-122"/>
                <a:cs typeface="Carlito" pitchFamily="34" charset="-120"/>
              </a:rPr>
              <a:t>Trouvez vos clients. Chaque nuit.</a:t>
            </a:r>
            <a:endParaRPr lang="en-US" sz="1800" dirty="0"/>
          </a:p>
        </p:txBody>
      </p:sp>
      <p:sp>
        <p:nvSpPr>
          <p:cNvPr id="6" name="Text 4"/>
          <p:cNvSpPr/>
          <p:nvPr/>
        </p:nvSpPr>
        <p:spPr>
          <a:xfrm>
            <a:off x="3704615" y="3113259"/>
            <a:ext cx="1734659" cy="256994"/>
          </a:xfrm>
          <a:prstGeom prst="roundRect">
            <a:avLst>
              <a:gd name="adj" fmla="val 3702606"/>
            </a:avLst>
          </a:prstGeom>
          <a:solidFill>
            <a:srgbClr val="FF7B54">
              <a:alpha val="18000"/>
            </a:srgbClr>
          </a:solidFill>
          <a:ln/>
        </p:spPr>
        <p:txBody>
          <a:bodyPr wrap="square" rtlCol="0" anchor="ctr"/>
          <a:lstStyle/>
          <a:p>
            <a:pPr indent="0" marL="0">
              <a:buNone/>
            </a:pPr>
            <a:endParaRPr lang="en-US" dirty="0"/>
          </a:p>
        </p:txBody>
      </p:sp>
      <p:sp>
        <p:nvSpPr>
          <p:cNvPr id="7" name="Text 5"/>
          <p:cNvSpPr/>
          <p:nvPr/>
        </p:nvSpPr>
        <p:spPr>
          <a:xfrm>
            <a:off x="3727475" y="3126060"/>
            <a:ext cx="1688939" cy="231391"/>
          </a:xfrm>
          <a:prstGeom prst="rect">
            <a:avLst/>
          </a:prstGeom>
          <a:noFill/>
          <a:ln/>
        </p:spPr>
        <p:txBody>
          <a:bodyPr wrap="none" lIns="0" tIns="0" rIns="0" bIns="0" rtlCol="0" anchor="ctr"/>
          <a:lstStyle/>
          <a:p>
            <a:pPr algn="ctr" indent="0" marL="0">
              <a:lnSpc>
                <a:spcPts val="1148"/>
              </a:lnSpc>
              <a:buNone/>
            </a:pPr>
            <a:r>
              <a:rPr lang="en-US" sz="800" spc="31" kern="0" dirty="0">
                <a:solidFill>
                  <a:srgbClr val="FF7B54"/>
                </a:solidFill>
                <a:latin typeface="Liberation Sans Narrow" pitchFamily="34" charset="0"/>
                <a:ea typeface="Liberation Sans Narrow" pitchFamily="34" charset="-122"/>
                <a:cs typeface="Liberation Sans Narrow" pitchFamily="34" charset="-120"/>
              </a:rPr>
              <a:t>PITCH INVESTISSEURS 2025</a:t>
            </a:r>
            <a:endParaRPr lang="en-US" sz="800" dirty="0"/>
          </a:p>
        </p:txBody>
      </p:sp>
      <p:sp>
        <p:nvSpPr>
          <p:cNvPr id="8" name="Text 6"/>
          <p:cNvSpPr/>
          <p:nvPr/>
        </p:nvSpPr>
        <p:spPr>
          <a:xfrm>
            <a:off x="458428" y="4540634"/>
            <a:ext cx="1509899" cy="164516"/>
          </a:xfrm>
          <a:prstGeom prst="rect">
            <a:avLst/>
          </a:prstGeom>
          <a:noFill/>
          <a:ln/>
        </p:spPr>
        <p:txBody>
          <a:bodyPr wrap="square" lIns="0" tIns="0" rIns="0" bIns="0" rtlCol="0" anchor="t"/>
          <a:lstStyle/>
          <a:p>
            <a:pPr algn="ctr" indent="0" marL="0">
              <a:lnSpc>
                <a:spcPts val="1148"/>
              </a:lnSpc>
              <a:buNone/>
            </a:pPr>
            <a:r>
              <a:rPr lang="en-US" sz="800" dirty="0">
                <a:solidFill>
                  <a:srgbClr val="FFFFFF">
                    <a:alpha val="55000"/>
                  </a:srgbClr>
                </a:solidFill>
                <a:latin typeface="Carlito" pitchFamily="34" charset="0"/>
                <a:ea typeface="Carlito" pitchFamily="34" charset="-122"/>
                <a:cs typeface="Carlito" pitchFamily="34" charset="-120"/>
              </a:rPr>
              <a:t>Confidentiel — Ne pas distribuer</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0A1A"/>
        </a:solidFill>
      </p:bgPr>
    </p:bg>
    <p:spTree>
      <p:nvGrpSpPr>
        <p:cNvPr id="1" name=""/>
        <p:cNvGrpSpPr/>
        <p:nvPr/>
      </p:nvGrpSpPr>
      <p:grpSpPr>
        <a:xfrm>
          <a:off x="0" y="0"/>
          <a:ext cx="0" cy="0"/>
          <a:chOff x="0" y="0"/>
          <a:chExt cx="0" cy="0"/>
        </a:xfrm>
      </p:grpSpPr>
      <p:sp>
        <p:nvSpPr>
          <p:cNvPr id="2" name="Text 0"/>
          <p:cNvSpPr/>
          <p:nvPr/>
        </p:nvSpPr>
        <p:spPr>
          <a:xfrm>
            <a:off x="491490" y="266028"/>
            <a:ext cx="1047073" cy="256994"/>
          </a:xfrm>
          <a:prstGeom prst="roundRect">
            <a:avLst>
              <a:gd name="adj" fmla="val 3702606"/>
            </a:avLst>
          </a:prstGeom>
          <a:solidFill>
            <a:srgbClr val="FF7B54">
              <a:alpha val="18000"/>
            </a:srgbClr>
          </a:solidFill>
          <a:ln/>
        </p:spPr>
        <p:txBody>
          <a:bodyPr wrap="square" rtlCol="0" anchor="ctr"/>
          <a:lstStyle/>
          <a:p>
            <a:pPr indent="0" marL="0">
              <a:buNone/>
            </a:pPr>
            <a:endParaRPr lang="en-US" dirty="0"/>
          </a:p>
        </p:txBody>
      </p:sp>
      <p:sp>
        <p:nvSpPr>
          <p:cNvPr id="3" name="Text 1"/>
          <p:cNvSpPr/>
          <p:nvPr/>
        </p:nvSpPr>
        <p:spPr>
          <a:xfrm>
            <a:off x="514350" y="278829"/>
            <a:ext cx="1001353" cy="231391"/>
          </a:xfrm>
          <a:prstGeom prst="rect">
            <a:avLst/>
          </a:prstGeom>
          <a:noFill/>
          <a:ln/>
        </p:spPr>
        <p:txBody>
          <a:bodyPr wrap="none" lIns="0" tIns="0" rIns="0" bIns="0" rtlCol="0" anchor="ctr"/>
          <a:lstStyle/>
          <a:p>
            <a:pPr algn="ctr" indent="0" marL="0">
              <a:lnSpc>
                <a:spcPts val="1148"/>
              </a:lnSpc>
              <a:buNone/>
            </a:pPr>
            <a:r>
              <a:rPr lang="en-US" sz="800" spc="31" kern="0" dirty="0">
                <a:solidFill>
                  <a:srgbClr val="FF7B54"/>
                </a:solidFill>
                <a:latin typeface="Carlito" pitchFamily="34" charset="0"/>
                <a:ea typeface="Carlito" pitchFamily="34" charset="-122"/>
                <a:cs typeface="Carlito" pitchFamily="34" charset="-120"/>
              </a:rPr>
              <a:t>LE PROBLÈME</a:t>
            </a:r>
            <a:endParaRPr lang="en-US" sz="800" dirty="0"/>
          </a:p>
        </p:txBody>
      </p:sp>
      <p:sp>
        <p:nvSpPr>
          <p:cNvPr id="4" name="Text 2"/>
          <p:cNvSpPr/>
          <p:nvPr/>
        </p:nvSpPr>
        <p:spPr>
          <a:xfrm>
            <a:off x="514350" y="681670"/>
            <a:ext cx="4274865" cy="851571"/>
          </a:xfrm>
          <a:prstGeom prst="rect">
            <a:avLst/>
          </a:prstGeom>
          <a:noFill/>
          <a:ln/>
        </p:spPr>
        <p:txBody>
          <a:bodyPr wrap="square" lIns="0" tIns="0" rIns="0" bIns="0" rtlCol="0" anchor="t"/>
          <a:lstStyle/>
          <a:p>
            <a:pPr algn="l" indent="0" marL="0">
              <a:lnSpc>
                <a:spcPts val="3105"/>
              </a:lnSpc>
              <a:buNone/>
            </a:pPr>
            <a:r>
              <a:rPr lang="en-US" sz="2700" b="1" dirty="0">
                <a:solidFill>
                  <a:srgbClr val="FFFFFF"/>
                </a:solidFill>
                <a:latin typeface="Carlito" pitchFamily="34" charset="0"/>
                <a:ea typeface="Carlito" pitchFamily="34" charset="-122"/>
                <a:cs typeface="Carlito" pitchFamily="34" charset="-120"/>
              </a:rPr>
              <a:t>40% des PME africaines ferment la première année</a:t>
            </a:r>
            <a:endParaRPr lang="en-US" sz="2700" dirty="0"/>
          </a:p>
        </p:txBody>
      </p:sp>
      <p:sp>
        <p:nvSpPr>
          <p:cNvPr id="5" name="Text 3"/>
          <p:cNvSpPr/>
          <p:nvPr/>
        </p:nvSpPr>
        <p:spPr>
          <a:xfrm>
            <a:off x="514350" y="1784486"/>
            <a:ext cx="3714750" cy="1068683"/>
          </a:xfrm>
          <a:prstGeom prst="rect">
            <a:avLst/>
          </a:prstGeom>
          <a:noFill/>
          <a:ln/>
        </p:spPr>
        <p:txBody>
          <a:bodyPr wrap="square" lIns="0" tIns="0" rIns="0" bIns="0" rtlCol="0" anchor="t"/>
          <a:lstStyle/>
          <a:p>
            <a:pPr algn="l" indent="0" marL="0">
              <a:lnSpc>
                <a:spcPts val="1559"/>
              </a:lnSpc>
              <a:buNone/>
            </a:pPr>
            <a:r>
              <a:rPr lang="en-US" sz="945" dirty="0">
                <a:solidFill>
                  <a:srgbClr val="FFFFFF">
                    <a:alpha val="55000"/>
                  </a:srgbClr>
                </a:solidFill>
                <a:latin typeface="Carlito" pitchFamily="34" charset="0"/>
                <a:ea typeface="Carlito" pitchFamily="34" charset="-122"/>
                <a:cs typeface="Carlito" pitchFamily="34" charset="-120"/>
              </a:rPr>
              <a:t>Chaque jour, des millions de vendeurs, prestataires et commerçants africains perdent des clients — non pas parce que leur produit est mauvais, mais parce qu'ils ne savent pas les trouver. La prospection reste manuelle, épuisante, et inefficace. Les réseaux sociaux sont saturés, les annuaires incomplets, le bouche-à-oreille aléatoire.</a:t>
            </a:r>
            <a:endParaRPr lang="en-US" sz="945" dirty="0"/>
          </a:p>
        </p:txBody>
      </p:sp>
      <p:sp>
        <p:nvSpPr>
          <p:cNvPr id="6" name="Text 4"/>
          <p:cNvSpPr/>
          <p:nvPr/>
        </p:nvSpPr>
        <p:spPr>
          <a:xfrm>
            <a:off x="517922" y="2977604"/>
            <a:ext cx="4267721" cy="565919"/>
          </a:xfrm>
          <a:prstGeom prst="roundRect">
            <a:avLst>
              <a:gd name="adj" fmla="val 23563"/>
            </a:avLst>
          </a:prstGeom>
          <a:solidFill>
            <a:srgbClr val="FFFFFF">
              <a:alpha val="6000"/>
            </a:srgbClr>
          </a:solidFill>
          <a:ln w="7144">
            <a:solidFill>
              <a:srgbClr val="FFFFFF"/>
            </a:solidFill>
            <a:prstDash val="solid"/>
          </a:ln>
        </p:spPr>
        <p:txBody>
          <a:bodyPr wrap="square" rtlCol="0" anchor="ctr"/>
          <a:lstStyle/>
          <a:p>
            <a:pPr indent="0" marL="0">
              <a:buNone/>
            </a:pPr>
            <a:endParaRPr lang="en-US" dirty="0"/>
          </a:p>
        </p:txBody>
      </p:sp>
      <p:sp>
        <p:nvSpPr>
          <p:cNvPr id="7" name="Text 5"/>
          <p:cNvSpPr/>
          <p:nvPr/>
        </p:nvSpPr>
        <p:spPr>
          <a:xfrm>
            <a:off x="664369" y="3109764"/>
            <a:ext cx="200025" cy="200025"/>
          </a:xfrm>
          <a:prstGeom prst="rect">
            <a:avLst/>
          </a:prstGeom>
          <a:noFill/>
          <a:ln/>
        </p:spPr>
        <p:txBody>
          <a:bodyPr wrap="none" lIns="0" tIns="0" rIns="0" bIns="0" rtlCol="0" anchor="ctr"/>
          <a:lstStyle/>
          <a:p>
            <a:pPr algn="ctr" indent="0" marL="0">
              <a:buNone/>
            </a:pPr>
            <a:r>
              <a:rPr lang="en-US" sz="1969" dirty="0">
                <a:solidFill>
                  <a:srgbClr val="FF7B54"/>
                </a:solidFill>
                <a:latin typeface="Segoe UI Symbol" pitchFamily="34" charset="0"/>
                <a:ea typeface="Segoe UI Symbol" pitchFamily="34" charset="-122"/>
                <a:cs typeface="Segoe UI Symbol" pitchFamily="34" charset="-120"/>
              </a:rPr>
              <a:t>▯</a:t>
            </a:r>
            <a:endParaRPr lang="en-US" sz="1969" dirty="0"/>
          </a:p>
        </p:txBody>
      </p:sp>
      <p:sp>
        <p:nvSpPr>
          <p:cNvPr id="8" name="Text 6"/>
          <p:cNvSpPr/>
          <p:nvPr/>
        </p:nvSpPr>
        <p:spPr>
          <a:xfrm>
            <a:off x="978694" y="3095476"/>
            <a:ext cx="1891408" cy="166789"/>
          </a:xfrm>
          <a:prstGeom prst="rect">
            <a:avLst/>
          </a:prstGeom>
          <a:noFill/>
          <a:ln/>
        </p:spPr>
        <p:txBody>
          <a:bodyPr wrap="none" lIns="0" tIns="0" rIns="0" bIns="0" rtlCol="0" anchor="t">
            <a:normAutofit/>
          </a:bodyPr>
          <a:lstStyle/>
          <a:p>
            <a:pPr algn="l" indent="0" marL="0">
              <a:lnSpc>
                <a:spcPts val="1418"/>
              </a:lnSpc>
              <a:buNone/>
            </a:pPr>
            <a:r>
              <a:rPr lang="en-US" sz="945" dirty="0">
                <a:solidFill>
                  <a:srgbClr val="FFFFFF"/>
                </a:solidFill>
                <a:latin typeface="Carlito" pitchFamily="34" charset="0"/>
                <a:ea typeface="Carlito" pitchFamily="34" charset="-122"/>
                <a:cs typeface="Carlito" pitchFamily="34" charset="-120"/>
              </a:rPr>
              <a:t>Prospection manuelle</a:t>
            </a:r>
            <a:endParaRPr lang="en-US" sz="945" dirty="0"/>
          </a:p>
        </p:txBody>
      </p:sp>
      <p:sp>
        <p:nvSpPr>
          <p:cNvPr id="9" name="Text 7"/>
          <p:cNvSpPr/>
          <p:nvPr/>
        </p:nvSpPr>
        <p:spPr>
          <a:xfrm>
            <a:off x="978694" y="3289697"/>
            <a:ext cx="1945449" cy="135954"/>
          </a:xfrm>
          <a:prstGeom prst="rect">
            <a:avLst/>
          </a:prstGeom>
          <a:noFill/>
          <a:ln/>
        </p:spPr>
        <p:txBody>
          <a:bodyPr wrap="square" lIns="0" tIns="0" rIns="0" bIns="0" rtlCol="0" anchor="t"/>
          <a:lstStyle/>
          <a:p>
            <a:pPr algn="l" indent="0" marL="0">
              <a:lnSpc>
                <a:spcPts val="1071"/>
              </a:lnSpc>
              <a:buNone/>
            </a:pPr>
            <a:r>
              <a:rPr lang="en-US" sz="800" dirty="0">
                <a:solidFill>
                  <a:srgbClr val="FFFFFF">
                    <a:alpha val="55000"/>
                  </a:srgbClr>
                </a:solidFill>
                <a:latin typeface="Carlito" pitchFamily="34" charset="0"/>
                <a:ea typeface="Carlito" pitchFamily="34" charset="-122"/>
                <a:cs typeface="Carlito" pitchFamily="34" charset="-120"/>
              </a:rPr>
              <a:t>2h/jour perdues en recherches inefficaces</a:t>
            </a:r>
            <a:endParaRPr lang="en-US" sz="800" dirty="0"/>
          </a:p>
        </p:txBody>
      </p:sp>
      <p:sp>
        <p:nvSpPr>
          <p:cNvPr id="10" name="Text 8"/>
          <p:cNvSpPr/>
          <p:nvPr/>
        </p:nvSpPr>
        <p:spPr>
          <a:xfrm>
            <a:off x="517922" y="3636392"/>
            <a:ext cx="4267721" cy="565919"/>
          </a:xfrm>
          <a:prstGeom prst="roundRect">
            <a:avLst>
              <a:gd name="adj" fmla="val 23563"/>
            </a:avLst>
          </a:prstGeom>
          <a:solidFill>
            <a:srgbClr val="FFFFFF">
              <a:alpha val="6000"/>
            </a:srgbClr>
          </a:solidFill>
          <a:ln w="7144">
            <a:solidFill>
              <a:srgbClr val="FFFFFF"/>
            </a:solidFill>
            <a:prstDash val="solid"/>
          </a:ln>
        </p:spPr>
        <p:txBody>
          <a:bodyPr wrap="square" rtlCol="0" anchor="ctr"/>
          <a:lstStyle/>
          <a:p>
            <a:pPr indent="0" marL="0">
              <a:buNone/>
            </a:pPr>
            <a:endParaRPr lang="en-US" dirty="0"/>
          </a:p>
        </p:txBody>
      </p:sp>
      <p:sp>
        <p:nvSpPr>
          <p:cNvPr id="11" name="Text 9"/>
          <p:cNvSpPr/>
          <p:nvPr/>
        </p:nvSpPr>
        <p:spPr>
          <a:xfrm>
            <a:off x="664369" y="3768551"/>
            <a:ext cx="200025" cy="200025"/>
          </a:xfrm>
          <a:prstGeom prst="rect">
            <a:avLst/>
          </a:prstGeom>
          <a:noFill/>
          <a:ln/>
        </p:spPr>
        <p:txBody>
          <a:bodyPr wrap="none" lIns="0" tIns="0" rIns="0" bIns="0" rtlCol="0" anchor="ctr"/>
          <a:lstStyle/>
          <a:p>
            <a:pPr algn="ctr" indent="0" marL="0">
              <a:buNone/>
            </a:pPr>
            <a:r>
              <a:rPr lang="en-US" sz="1969" dirty="0">
                <a:solidFill>
                  <a:srgbClr val="FF7B54"/>
                </a:solidFill>
                <a:latin typeface="Segoe UI Symbol" pitchFamily="34" charset="0"/>
                <a:ea typeface="Segoe UI Symbol" pitchFamily="34" charset="-122"/>
                <a:cs typeface="Segoe UI Symbol" pitchFamily="34" charset="-120"/>
              </a:rPr>
              <a:t>↑</a:t>
            </a:r>
            <a:endParaRPr lang="en-US" sz="1969" dirty="0"/>
          </a:p>
        </p:txBody>
      </p:sp>
      <p:sp>
        <p:nvSpPr>
          <p:cNvPr id="12" name="Text 10"/>
          <p:cNvSpPr/>
          <p:nvPr/>
        </p:nvSpPr>
        <p:spPr>
          <a:xfrm>
            <a:off x="978694" y="3754264"/>
            <a:ext cx="2762923" cy="166789"/>
          </a:xfrm>
          <a:prstGeom prst="rect">
            <a:avLst/>
          </a:prstGeom>
          <a:noFill/>
          <a:ln/>
        </p:spPr>
        <p:txBody>
          <a:bodyPr wrap="none" lIns="0" tIns="0" rIns="0" bIns="0" rtlCol="0" anchor="t">
            <a:normAutofit/>
          </a:bodyPr>
          <a:lstStyle/>
          <a:p>
            <a:pPr algn="l" indent="0" marL="0">
              <a:lnSpc>
                <a:spcPts val="1418"/>
              </a:lnSpc>
              <a:buNone/>
            </a:pPr>
            <a:r>
              <a:rPr lang="en-US" sz="945" dirty="0">
                <a:solidFill>
                  <a:srgbClr val="FFFFFF"/>
                </a:solidFill>
                <a:latin typeface="Carlito" pitchFamily="34" charset="0"/>
                <a:ea typeface="Carlito" pitchFamily="34" charset="-122"/>
                <a:cs typeface="Carlito" pitchFamily="34" charset="-120"/>
              </a:rPr>
              <a:t>Clients introuvables</a:t>
            </a:r>
            <a:endParaRPr lang="en-US" sz="945" dirty="0"/>
          </a:p>
        </p:txBody>
      </p:sp>
      <p:sp>
        <p:nvSpPr>
          <p:cNvPr id="13" name="Text 11"/>
          <p:cNvSpPr/>
          <p:nvPr/>
        </p:nvSpPr>
        <p:spPr>
          <a:xfrm>
            <a:off x="978694" y="3948485"/>
            <a:ext cx="2631356" cy="135954"/>
          </a:xfrm>
          <a:prstGeom prst="rect">
            <a:avLst/>
          </a:prstGeom>
          <a:noFill/>
          <a:ln/>
        </p:spPr>
        <p:txBody>
          <a:bodyPr wrap="square" lIns="0" tIns="0" rIns="0" bIns="0" rtlCol="0" anchor="t"/>
          <a:lstStyle/>
          <a:p>
            <a:pPr algn="l" indent="0" marL="0">
              <a:lnSpc>
                <a:spcPts val="1071"/>
              </a:lnSpc>
              <a:buNone/>
            </a:pPr>
            <a:r>
              <a:rPr lang="en-US" sz="800" dirty="0">
                <a:solidFill>
                  <a:srgbClr val="FFFFFF">
                    <a:alpha val="55000"/>
                  </a:srgbClr>
                </a:solidFill>
                <a:latin typeface="Carlito" pitchFamily="34" charset="0"/>
                <a:ea typeface="Carlito" pitchFamily="34" charset="-122"/>
                <a:cs typeface="Carlito" pitchFamily="34" charset="-120"/>
              </a:rPr>
              <a:t>72% des commerçants n'ont aucune stratégie de prospection</a:t>
            </a:r>
            <a:endParaRPr lang="en-US" sz="800" dirty="0"/>
          </a:p>
        </p:txBody>
      </p:sp>
      <p:sp>
        <p:nvSpPr>
          <p:cNvPr id="14" name="Text 12"/>
          <p:cNvSpPr/>
          <p:nvPr/>
        </p:nvSpPr>
        <p:spPr>
          <a:xfrm>
            <a:off x="517922" y="4295180"/>
            <a:ext cx="4267721" cy="565919"/>
          </a:xfrm>
          <a:prstGeom prst="roundRect">
            <a:avLst>
              <a:gd name="adj" fmla="val 23563"/>
            </a:avLst>
          </a:prstGeom>
          <a:solidFill>
            <a:srgbClr val="FFFFFF">
              <a:alpha val="6000"/>
            </a:srgbClr>
          </a:solidFill>
          <a:ln w="7144">
            <a:solidFill>
              <a:srgbClr val="FFFFFF"/>
            </a:solidFill>
            <a:prstDash val="solid"/>
          </a:ln>
        </p:spPr>
        <p:txBody>
          <a:bodyPr wrap="square" rtlCol="0" anchor="ctr"/>
          <a:lstStyle/>
          <a:p>
            <a:pPr indent="0" marL="0">
              <a:buNone/>
            </a:pPr>
            <a:endParaRPr lang="en-US" dirty="0"/>
          </a:p>
        </p:txBody>
      </p:sp>
      <p:sp>
        <p:nvSpPr>
          <p:cNvPr id="15" name="Text 13"/>
          <p:cNvSpPr/>
          <p:nvPr/>
        </p:nvSpPr>
        <p:spPr>
          <a:xfrm>
            <a:off x="664369" y="4427339"/>
            <a:ext cx="200025" cy="200025"/>
          </a:xfrm>
          <a:prstGeom prst="rect">
            <a:avLst/>
          </a:prstGeom>
          <a:noFill/>
          <a:ln/>
        </p:spPr>
        <p:txBody>
          <a:bodyPr wrap="none" lIns="0" tIns="0" rIns="0" bIns="0" rtlCol="0" anchor="ctr"/>
          <a:lstStyle/>
          <a:p>
            <a:pPr algn="ctr" indent="0" marL="0">
              <a:buNone/>
            </a:pPr>
            <a:r>
              <a:rPr lang="en-US" sz="1969" dirty="0">
                <a:solidFill>
                  <a:srgbClr val="FF7B54"/>
                </a:solidFill>
                <a:latin typeface="Segoe UI Symbol" pitchFamily="34" charset="0"/>
                <a:ea typeface="Segoe UI Symbol" pitchFamily="34" charset="-122"/>
                <a:cs typeface="Segoe UI Symbol" pitchFamily="34" charset="-120"/>
              </a:rPr>
              <a:t>↘</a:t>
            </a:r>
            <a:endParaRPr lang="en-US" sz="1969" dirty="0"/>
          </a:p>
        </p:txBody>
      </p:sp>
      <p:sp>
        <p:nvSpPr>
          <p:cNvPr id="16" name="Text 14"/>
          <p:cNvSpPr/>
          <p:nvPr/>
        </p:nvSpPr>
        <p:spPr>
          <a:xfrm>
            <a:off x="978694" y="4413052"/>
            <a:ext cx="2209696" cy="166789"/>
          </a:xfrm>
          <a:prstGeom prst="rect">
            <a:avLst/>
          </a:prstGeom>
          <a:noFill/>
          <a:ln/>
        </p:spPr>
        <p:txBody>
          <a:bodyPr wrap="square" lIns="0" tIns="0" rIns="0" bIns="0" rtlCol="0" anchor="t">
            <a:normAutofit/>
          </a:bodyPr>
          <a:lstStyle/>
          <a:p>
            <a:pPr algn="l" indent="0" marL="0">
              <a:lnSpc>
                <a:spcPts val="1418"/>
              </a:lnSpc>
              <a:buNone/>
            </a:pPr>
            <a:r>
              <a:rPr lang="en-US" sz="945" dirty="0">
                <a:solidFill>
                  <a:srgbClr val="FFFFFF"/>
                </a:solidFill>
                <a:latin typeface="Carlito" pitchFamily="34" charset="0"/>
                <a:ea typeface="Carlito" pitchFamily="34" charset="-122"/>
                <a:cs typeface="Carlito" pitchFamily="34" charset="-120"/>
              </a:rPr>
              <a:t>Chiffre d'affaires stagnant</a:t>
            </a:r>
            <a:endParaRPr lang="en-US" sz="945" dirty="0"/>
          </a:p>
        </p:txBody>
      </p:sp>
      <p:sp>
        <p:nvSpPr>
          <p:cNvPr id="17" name="Text 15"/>
          <p:cNvSpPr/>
          <p:nvPr/>
        </p:nvSpPr>
        <p:spPr>
          <a:xfrm>
            <a:off x="978694" y="4607272"/>
            <a:ext cx="2209696" cy="135954"/>
          </a:xfrm>
          <a:prstGeom prst="rect">
            <a:avLst/>
          </a:prstGeom>
          <a:noFill/>
          <a:ln/>
        </p:spPr>
        <p:txBody>
          <a:bodyPr wrap="square" lIns="0" tIns="0" rIns="0" bIns="0" rtlCol="0" anchor="t"/>
          <a:lstStyle/>
          <a:p>
            <a:pPr algn="l" indent="0" marL="0">
              <a:lnSpc>
                <a:spcPts val="1071"/>
              </a:lnSpc>
              <a:buNone/>
            </a:pPr>
            <a:r>
              <a:rPr lang="en-US" sz="800" dirty="0">
                <a:solidFill>
                  <a:srgbClr val="FFFFFF">
                    <a:alpha val="55000"/>
                  </a:srgbClr>
                </a:solidFill>
                <a:latin typeface="Carlito" pitchFamily="34" charset="0"/>
                <a:ea typeface="Carlito" pitchFamily="34" charset="-122"/>
                <a:cs typeface="Carlito" pitchFamily="34" charset="-120"/>
              </a:rPr>
              <a:t>96 minutes de productivité perdues chaque jour</a:t>
            </a:r>
            <a:endParaRPr lang="en-US" sz="800" dirty="0"/>
          </a:p>
        </p:txBody>
      </p:sp>
      <p:pic>
        <p:nvPicPr>
          <p:cNvPr id="18" name="Image 0" descr="/tmp/h2p-fit-1781526816327-wamlbk.png">    </p:cNvPr>
          <p:cNvPicPr>
            <a:picLocks noChangeAspect="1"/>
          </p:cNvPicPr>
          <p:nvPr/>
        </p:nvPicPr>
        <p:blipFill>
          <a:blip r:embed="rId1"/>
          <a:stretch>
            <a:fillRect/>
          </a:stretch>
        </p:blipFill>
        <p:spPr>
          <a:xfrm>
            <a:off x="5132115" y="457200"/>
            <a:ext cx="3497535" cy="4229100"/>
          </a:xfrm>
          <a:prstGeom prst="rect">
            <a:avLst/>
          </a:prstGeom>
        </p:spPr>
      </p:pic>
      <p:pic>
        <p:nvPicPr>
          <p:cNvPr id="19" name="Image 1" descr="preencoded.png">    </p:cNvPr>
          <p:cNvPicPr>
            <a:picLocks noChangeAspect="1"/>
          </p:cNvPicPr>
          <p:nvPr/>
        </p:nvPicPr>
        <p:blipFill>
          <a:blip r:embed="rId2"/>
          <a:stretch>
            <a:fillRect/>
          </a:stretch>
        </p:blipFill>
        <p:spPr>
          <a:xfrm>
            <a:off x="5132115" y="457200"/>
            <a:ext cx="3497535" cy="42291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0A1A"/>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FF7B54">
              <a:alpha val="12000"/>
            </a:srgbClr>
          </a:solidFill>
          <a:ln/>
        </p:spPr>
        <p:txBody>
          <a:bodyPr wrap="square" rtlCol="0" anchor="ctr"/>
          <a:lstStyle/>
          <a:p>
            <a:pPr indent="0" marL="0">
              <a:buNone/>
            </a:pPr>
            <a:endParaRPr lang="en-US" dirty="0"/>
          </a:p>
        </p:txBody>
      </p:sp>
      <p:sp>
        <p:nvSpPr>
          <p:cNvPr id="3" name="Text 1"/>
          <p:cNvSpPr/>
          <p:nvPr/>
        </p:nvSpPr>
        <p:spPr>
          <a:xfrm>
            <a:off x="491490" y="444398"/>
            <a:ext cx="1406604" cy="256994"/>
          </a:xfrm>
          <a:prstGeom prst="roundRect">
            <a:avLst>
              <a:gd name="adj" fmla="val 3702606"/>
            </a:avLst>
          </a:prstGeom>
          <a:solidFill>
            <a:srgbClr val="FF7B54">
              <a:alpha val="18000"/>
            </a:srgbClr>
          </a:solidFill>
          <a:ln/>
        </p:spPr>
        <p:txBody>
          <a:bodyPr wrap="square" rtlCol="0" anchor="ctr"/>
          <a:lstStyle/>
          <a:p>
            <a:pPr indent="0" marL="0">
              <a:buNone/>
            </a:pPr>
            <a:endParaRPr lang="en-US" dirty="0"/>
          </a:p>
        </p:txBody>
      </p:sp>
      <p:sp>
        <p:nvSpPr>
          <p:cNvPr id="4" name="Text 2"/>
          <p:cNvSpPr/>
          <p:nvPr/>
        </p:nvSpPr>
        <p:spPr>
          <a:xfrm>
            <a:off x="514350" y="457200"/>
            <a:ext cx="1360884" cy="231391"/>
          </a:xfrm>
          <a:prstGeom prst="rect">
            <a:avLst/>
          </a:prstGeom>
          <a:noFill/>
          <a:ln/>
        </p:spPr>
        <p:txBody>
          <a:bodyPr wrap="none" lIns="0" tIns="0" rIns="0" bIns="0" rtlCol="0" anchor="ctr"/>
          <a:lstStyle/>
          <a:p>
            <a:pPr algn="ctr" indent="0" marL="0">
              <a:lnSpc>
                <a:spcPts val="1148"/>
              </a:lnSpc>
              <a:buNone/>
            </a:pPr>
            <a:r>
              <a:rPr lang="en-US" sz="800" spc="31" kern="0" dirty="0">
                <a:solidFill>
                  <a:srgbClr val="FF7B54"/>
                </a:solidFill>
                <a:latin typeface="Carlito" pitchFamily="34" charset="0"/>
                <a:ea typeface="Carlito" pitchFamily="34" charset="-122"/>
                <a:cs typeface="Carlito" pitchFamily="34" charset="-120"/>
              </a:rPr>
              <a:t>LES CONSÉQUENCES</a:t>
            </a:r>
            <a:endParaRPr lang="en-US" sz="800" dirty="0"/>
          </a:p>
        </p:txBody>
      </p:sp>
      <p:sp>
        <p:nvSpPr>
          <p:cNvPr id="5" name="Text 3"/>
          <p:cNvSpPr/>
          <p:nvPr/>
        </p:nvSpPr>
        <p:spPr>
          <a:xfrm>
            <a:off x="514350" y="831466"/>
            <a:ext cx="6143625" cy="592387"/>
          </a:xfrm>
          <a:prstGeom prst="rect">
            <a:avLst/>
          </a:prstGeom>
          <a:noFill/>
          <a:ln/>
        </p:spPr>
        <p:txBody>
          <a:bodyPr wrap="square" lIns="0" tIns="0" rIns="0" bIns="0" rtlCol="0" anchor="t"/>
          <a:lstStyle/>
          <a:p>
            <a:pPr algn="l" indent="0" marL="0">
              <a:lnSpc>
                <a:spcPts val="2160"/>
              </a:lnSpc>
              <a:buNone/>
            </a:pPr>
            <a:r>
              <a:rPr lang="en-US" sz="1800" b="1" dirty="0">
                <a:solidFill>
                  <a:srgbClr val="FFFFFF"/>
                </a:solidFill>
                <a:latin typeface="Carlito" pitchFamily="34" charset="0"/>
                <a:ea typeface="Carlito" pitchFamily="34" charset="-122"/>
                <a:cs typeface="Carlito" pitchFamily="34" charset="-120"/>
              </a:rPr>
              <a:t>L'absence de prospection tue plus d'entreprises que le manque de financement</a:t>
            </a:r>
            <a:endParaRPr lang="en-US" sz="1800" dirty="0"/>
          </a:p>
        </p:txBody>
      </p:sp>
      <p:sp>
        <p:nvSpPr>
          <p:cNvPr id="6" name="Text 4"/>
          <p:cNvSpPr/>
          <p:nvPr/>
        </p:nvSpPr>
        <p:spPr>
          <a:xfrm>
            <a:off x="517922" y="1640718"/>
            <a:ext cx="3979069" cy="1287438"/>
          </a:xfrm>
          <a:prstGeom prst="roundRect">
            <a:avLst>
              <a:gd name="adj" fmla="val 11837"/>
            </a:avLst>
          </a:prstGeom>
          <a:solidFill>
            <a:srgbClr val="FFFFFF">
              <a:alpha val="6000"/>
            </a:srgbClr>
          </a:solidFill>
          <a:ln w="7144">
            <a:solidFill>
              <a:srgbClr val="FFFFFF"/>
            </a:solidFill>
            <a:prstDash val="solid"/>
          </a:ln>
        </p:spPr>
        <p:txBody>
          <a:bodyPr wrap="square" rtlCol="0" anchor="ctr"/>
          <a:lstStyle/>
          <a:p>
            <a:pPr indent="0" marL="0">
              <a:buNone/>
            </a:pPr>
            <a:endParaRPr lang="en-US" dirty="0"/>
          </a:p>
        </p:txBody>
      </p:sp>
      <p:sp>
        <p:nvSpPr>
          <p:cNvPr id="7" name="Text 5"/>
          <p:cNvSpPr/>
          <p:nvPr/>
        </p:nvSpPr>
        <p:spPr>
          <a:xfrm>
            <a:off x="1979031" y="1883494"/>
            <a:ext cx="1056739" cy="395045"/>
          </a:xfrm>
          <a:prstGeom prst="rect">
            <a:avLst/>
          </a:prstGeom>
          <a:noFill/>
          <a:ln/>
        </p:spPr>
        <p:txBody>
          <a:bodyPr wrap="none" lIns="0" tIns="0" rIns="0" bIns="0" rtlCol="0" anchor="t"/>
          <a:lstStyle/>
          <a:p>
            <a:pPr algn="ctr" indent="0" marL="0">
              <a:lnSpc>
                <a:spcPts val="2880"/>
              </a:lnSpc>
              <a:buNone/>
            </a:pPr>
            <a:r>
              <a:rPr lang="en-US" sz="2880" b="1" dirty="0">
                <a:solidFill>
                  <a:srgbClr val="FF7B54"/>
                </a:solidFill>
                <a:latin typeface="Liberation Sans Narrow" pitchFamily="34" charset="0"/>
                <a:ea typeface="Liberation Sans Narrow" pitchFamily="34" charset="-122"/>
                <a:cs typeface="Liberation Sans Narrow" pitchFamily="34" charset="-120"/>
              </a:rPr>
              <a:t>40%</a:t>
            </a:r>
            <a:endParaRPr lang="en-US" sz="2880" dirty="0"/>
          </a:p>
        </p:txBody>
      </p:sp>
      <p:sp>
        <p:nvSpPr>
          <p:cNvPr id="8" name="Text 6"/>
          <p:cNvSpPr/>
          <p:nvPr/>
        </p:nvSpPr>
        <p:spPr>
          <a:xfrm>
            <a:off x="1578769" y="2349289"/>
            <a:ext cx="1857375" cy="346695"/>
          </a:xfrm>
          <a:prstGeom prst="rect">
            <a:avLst/>
          </a:prstGeom>
          <a:noFill/>
          <a:ln/>
        </p:spPr>
        <p:txBody>
          <a:bodyPr wrap="square" lIns="0" tIns="0" rIns="0" bIns="0" rtlCol="0" anchor="t"/>
          <a:lstStyle/>
          <a:p>
            <a:pPr algn="ctr" indent="0" marL="0">
              <a:lnSpc>
                <a:spcPts val="1323"/>
              </a:lnSpc>
              <a:buNone/>
            </a:pPr>
            <a:r>
              <a:rPr lang="en-US" sz="945" dirty="0">
                <a:solidFill>
                  <a:srgbClr val="FFFFFF">
                    <a:alpha val="55000"/>
                  </a:srgbClr>
                </a:solidFill>
                <a:latin typeface="Carlito" pitchFamily="34" charset="0"/>
                <a:ea typeface="Carlito" pitchFamily="34" charset="-122"/>
                <a:cs typeface="Carlito" pitchFamily="34" charset="-120"/>
              </a:rPr>
              <a:t>des PME africaines ferment avant 12 mois</a:t>
            </a:r>
            <a:endParaRPr lang="en-US" sz="945" dirty="0"/>
          </a:p>
        </p:txBody>
      </p:sp>
      <p:sp>
        <p:nvSpPr>
          <p:cNvPr id="9" name="Text 7"/>
          <p:cNvSpPr/>
          <p:nvPr/>
        </p:nvSpPr>
        <p:spPr>
          <a:xfrm>
            <a:off x="4647009" y="1640718"/>
            <a:ext cx="3979069" cy="1287438"/>
          </a:xfrm>
          <a:prstGeom prst="roundRect">
            <a:avLst>
              <a:gd name="adj" fmla="val 11837"/>
            </a:avLst>
          </a:prstGeom>
          <a:solidFill>
            <a:srgbClr val="FFFFFF">
              <a:alpha val="6000"/>
            </a:srgbClr>
          </a:solidFill>
          <a:ln w="7144">
            <a:solidFill>
              <a:srgbClr val="FFFFFF"/>
            </a:solidFill>
            <a:prstDash val="solid"/>
          </a:ln>
        </p:spPr>
        <p:txBody>
          <a:bodyPr wrap="square" rtlCol="0" anchor="ctr"/>
          <a:lstStyle/>
          <a:p>
            <a:pPr indent="0" marL="0">
              <a:buNone/>
            </a:pPr>
            <a:endParaRPr lang="en-US" dirty="0"/>
          </a:p>
        </p:txBody>
      </p:sp>
      <p:sp>
        <p:nvSpPr>
          <p:cNvPr id="10" name="Text 8"/>
          <p:cNvSpPr/>
          <p:nvPr/>
        </p:nvSpPr>
        <p:spPr>
          <a:xfrm>
            <a:off x="6108118" y="1883494"/>
            <a:ext cx="1056739" cy="395045"/>
          </a:xfrm>
          <a:prstGeom prst="rect">
            <a:avLst/>
          </a:prstGeom>
          <a:noFill/>
          <a:ln/>
        </p:spPr>
        <p:txBody>
          <a:bodyPr wrap="none" lIns="0" tIns="0" rIns="0" bIns="0" rtlCol="0" anchor="t"/>
          <a:lstStyle/>
          <a:p>
            <a:pPr algn="ctr" indent="0" marL="0">
              <a:lnSpc>
                <a:spcPts val="2880"/>
              </a:lnSpc>
              <a:buNone/>
            </a:pPr>
            <a:r>
              <a:rPr lang="en-US" sz="2880" b="1" dirty="0">
                <a:solidFill>
                  <a:srgbClr val="FF7B54"/>
                </a:solidFill>
                <a:latin typeface="Liberation Sans Narrow" pitchFamily="34" charset="0"/>
                <a:ea typeface="Liberation Sans Narrow" pitchFamily="34" charset="-122"/>
                <a:cs typeface="Liberation Sans Narrow" pitchFamily="34" charset="-120"/>
              </a:rPr>
              <a:t>72%</a:t>
            </a:r>
            <a:endParaRPr lang="en-US" sz="2880" dirty="0"/>
          </a:p>
        </p:txBody>
      </p:sp>
      <p:sp>
        <p:nvSpPr>
          <p:cNvPr id="11" name="Text 9"/>
          <p:cNvSpPr/>
          <p:nvPr/>
        </p:nvSpPr>
        <p:spPr>
          <a:xfrm>
            <a:off x="5707856" y="2349289"/>
            <a:ext cx="1857375" cy="346695"/>
          </a:xfrm>
          <a:prstGeom prst="rect">
            <a:avLst/>
          </a:prstGeom>
          <a:noFill/>
          <a:ln/>
        </p:spPr>
        <p:txBody>
          <a:bodyPr wrap="square" lIns="0" tIns="0" rIns="0" bIns="0" rtlCol="0" anchor="t"/>
          <a:lstStyle/>
          <a:p>
            <a:pPr algn="ctr" indent="0" marL="0">
              <a:lnSpc>
                <a:spcPts val="1323"/>
              </a:lnSpc>
              <a:buNone/>
            </a:pPr>
            <a:r>
              <a:rPr lang="en-US" sz="945" dirty="0">
                <a:solidFill>
                  <a:srgbClr val="FFFFFF">
                    <a:alpha val="55000"/>
                  </a:srgbClr>
                </a:solidFill>
                <a:latin typeface="Carlito" pitchFamily="34" charset="0"/>
                <a:ea typeface="Carlito" pitchFamily="34" charset="-122"/>
                <a:cs typeface="Carlito" pitchFamily="34" charset="-120"/>
              </a:rPr>
              <a:t>des commerçants n'ont aucune stratégie client</a:t>
            </a:r>
            <a:endParaRPr lang="en-US" sz="945" dirty="0"/>
          </a:p>
        </p:txBody>
      </p:sp>
      <p:sp>
        <p:nvSpPr>
          <p:cNvPr id="12" name="Text 10"/>
          <p:cNvSpPr/>
          <p:nvPr/>
        </p:nvSpPr>
        <p:spPr>
          <a:xfrm>
            <a:off x="517922" y="3078175"/>
            <a:ext cx="3979069" cy="1287438"/>
          </a:xfrm>
          <a:prstGeom prst="roundRect">
            <a:avLst>
              <a:gd name="adj" fmla="val 11837"/>
            </a:avLst>
          </a:prstGeom>
          <a:solidFill>
            <a:srgbClr val="FFFFFF">
              <a:alpha val="6000"/>
            </a:srgbClr>
          </a:solidFill>
          <a:ln w="7144">
            <a:solidFill>
              <a:srgbClr val="FFFFFF"/>
            </a:solidFill>
            <a:prstDash val="solid"/>
          </a:ln>
        </p:spPr>
        <p:txBody>
          <a:bodyPr wrap="square" rtlCol="0" anchor="ctr"/>
          <a:lstStyle/>
          <a:p>
            <a:pPr indent="0" marL="0">
              <a:buNone/>
            </a:pPr>
            <a:endParaRPr lang="en-US" dirty="0"/>
          </a:p>
        </p:txBody>
      </p:sp>
      <p:sp>
        <p:nvSpPr>
          <p:cNvPr id="13" name="Text 11"/>
          <p:cNvSpPr/>
          <p:nvPr/>
        </p:nvSpPr>
        <p:spPr>
          <a:xfrm>
            <a:off x="1521063" y="3320951"/>
            <a:ext cx="1972675" cy="395045"/>
          </a:xfrm>
          <a:prstGeom prst="rect">
            <a:avLst/>
          </a:prstGeom>
          <a:noFill/>
          <a:ln/>
        </p:spPr>
        <p:txBody>
          <a:bodyPr wrap="none" lIns="0" tIns="0" rIns="0" bIns="0" rtlCol="0" anchor="t"/>
          <a:lstStyle/>
          <a:p>
            <a:pPr algn="ctr" indent="0" marL="0">
              <a:lnSpc>
                <a:spcPts val="2880"/>
              </a:lnSpc>
              <a:buNone/>
            </a:pPr>
            <a:r>
              <a:rPr lang="en-US" sz="2880" b="1" dirty="0">
                <a:solidFill>
                  <a:srgbClr val="6C3FA9"/>
                </a:solidFill>
                <a:latin typeface="Liberation Sans Narrow" pitchFamily="34" charset="0"/>
                <a:ea typeface="Liberation Sans Narrow" pitchFamily="34" charset="-122"/>
                <a:cs typeface="Liberation Sans Narrow" pitchFamily="34" charset="-120"/>
              </a:rPr>
              <a:t>2h/jour</a:t>
            </a:r>
            <a:endParaRPr lang="en-US" sz="2880" dirty="0"/>
          </a:p>
        </p:txBody>
      </p:sp>
      <p:sp>
        <p:nvSpPr>
          <p:cNvPr id="14" name="Text 12"/>
          <p:cNvSpPr/>
          <p:nvPr/>
        </p:nvSpPr>
        <p:spPr>
          <a:xfrm>
            <a:off x="1578769" y="3786746"/>
            <a:ext cx="1857375" cy="346695"/>
          </a:xfrm>
          <a:prstGeom prst="rect">
            <a:avLst/>
          </a:prstGeom>
          <a:noFill/>
          <a:ln/>
        </p:spPr>
        <p:txBody>
          <a:bodyPr wrap="square" lIns="0" tIns="0" rIns="0" bIns="0" rtlCol="0" anchor="t"/>
          <a:lstStyle/>
          <a:p>
            <a:pPr algn="ctr" indent="0" marL="0">
              <a:lnSpc>
                <a:spcPts val="1323"/>
              </a:lnSpc>
              <a:buNone/>
            </a:pPr>
            <a:r>
              <a:rPr lang="en-US" sz="945" dirty="0">
                <a:solidFill>
                  <a:srgbClr val="FFFFFF">
                    <a:alpha val="55000"/>
                  </a:srgbClr>
                </a:solidFill>
                <a:latin typeface="Carlito" pitchFamily="34" charset="0"/>
                <a:ea typeface="Carlito" pitchFamily="34" charset="-122"/>
                <a:cs typeface="Carlito" pitchFamily="34" charset="-120"/>
              </a:rPr>
              <a:t>perdues en prospection manuelle inefficace</a:t>
            </a:r>
            <a:endParaRPr lang="en-US" sz="945" dirty="0"/>
          </a:p>
        </p:txBody>
      </p:sp>
      <p:sp>
        <p:nvSpPr>
          <p:cNvPr id="15" name="Text 13"/>
          <p:cNvSpPr/>
          <p:nvPr/>
        </p:nvSpPr>
        <p:spPr>
          <a:xfrm>
            <a:off x="4647009" y="3078175"/>
            <a:ext cx="3979069" cy="1287438"/>
          </a:xfrm>
          <a:prstGeom prst="roundRect">
            <a:avLst>
              <a:gd name="adj" fmla="val 11837"/>
            </a:avLst>
          </a:prstGeom>
          <a:solidFill>
            <a:srgbClr val="FFFFFF">
              <a:alpha val="6000"/>
            </a:srgbClr>
          </a:solidFill>
          <a:ln w="7144">
            <a:solidFill>
              <a:srgbClr val="FFFFFF"/>
            </a:solidFill>
            <a:prstDash val="solid"/>
          </a:ln>
        </p:spPr>
        <p:txBody>
          <a:bodyPr wrap="square" rtlCol="0" anchor="ctr"/>
          <a:lstStyle/>
          <a:p>
            <a:pPr indent="0" marL="0">
              <a:buNone/>
            </a:pPr>
            <a:endParaRPr lang="en-US" dirty="0"/>
          </a:p>
        </p:txBody>
      </p:sp>
      <p:sp>
        <p:nvSpPr>
          <p:cNvPr id="16" name="Text 14"/>
          <p:cNvSpPr/>
          <p:nvPr/>
        </p:nvSpPr>
        <p:spPr>
          <a:xfrm>
            <a:off x="5791152" y="3320951"/>
            <a:ext cx="1690783" cy="395045"/>
          </a:xfrm>
          <a:prstGeom prst="rect">
            <a:avLst/>
          </a:prstGeom>
          <a:noFill/>
          <a:ln/>
        </p:spPr>
        <p:txBody>
          <a:bodyPr wrap="none" lIns="0" tIns="0" rIns="0" bIns="0" rtlCol="0" anchor="t"/>
          <a:lstStyle/>
          <a:p>
            <a:pPr algn="ctr" indent="0" marL="0">
              <a:lnSpc>
                <a:spcPts val="2880"/>
              </a:lnSpc>
              <a:buNone/>
            </a:pPr>
            <a:r>
              <a:rPr lang="en-US" sz="2880" b="1" dirty="0">
                <a:solidFill>
                  <a:srgbClr val="FF7B54"/>
                </a:solidFill>
                <a:latin typeface="Liberation Sans Narrow" pitchFamily="34" charset="0"/>
                <a:ea typeface="Liberation Sans Narrow" pitchFamily="34" charset="-122"/>
                <a:cs typeface="Liberation Sans Narrow" pitchFamily="34" charset="-120"/>
              </a:rPr>
              <a:t>96 min</a:t>
            </a:r>
            <a:endParaRPr lang="en-US" sz="2880" dirty="0"/>
          </a:p>
        </p:txBody>
      </p:sp>
      <p:sp>
        <p:nvSpPr>
          <p:cNvPr id="17" name="Text 15"/>
          <p:cNvSpPr/>
          <p:nvPr/>
        </p:nvSpPr>
        <p:spPr>
          <a:xfrm>
            <a:off x="5707856" y="3786746"/>
            <a:ext cx="1857375" cy="346695"/>
          </a:xfrm>
          <a:prstGeom prst="rect">
            <a:avLst/>
          </a:prstGeom>
          <a:noFill/>
          <a:ln/>
        </p:spPr>
        <p:txBody>
          <a:bodyPr wrap="square" lIns="0" tIns="0" rIns="0" bIns="0" rtlCol="0" anchor="t"/>
          <a:lstStyle/>
          <a:p>
            <a:pPr algn="ctr" indent="0" marL="0">
              <a:lnSpc>
                <a:spcPts val="1323"/>
              </a:lnSpc>
              <a:buNone/>
            </a:pPr>
            <a:r>
              <a:rPr lang="en-US" sz="945" dirty="0">
                <a:solidFill>
                  <a:srgbClr val="FFFFFF">
                    <a:alpha val="55000"/>
                  </a:srgbClr>
                </a:solidFill>
                <a:latin typeface="Carlito" pitchFamily="34" charset="0"/>
                <a:ea typeface="Carlito" pitchFamily="34" charset="-122"/>
                <a:cs typeface="Carlito" pitchFamily="34" charset="-120"/>
              </a:rPr>
              <a:t>de productivité gaspillées quotidiennement</a:t>
            </a:r>
            <a:endParaRPr lang="en-US" sz="945" dirty="0"/>
          </a:p>
        </p:txBody>
      </p:sp>
      <p:sp>
        <p:nvSpPr>
          <p:cNvPr id="18" name="Text 16"/>
          <p:cNvSpPr/>
          <p:nvPr/>
        </p:nvSpPr>
        <p:spPr>
          <a:xfrm>
            <a:off x="514350" y="4540634"/>
            <a:ext cx="8115300" cy="164516"/>
          </a:xfrm>
          <a:prstGeom prst="rect">
            <a:avLst/>
          </a:prstGeom>
          <a:noFill/>
          <a:ln/>
        </p:spPr>
        <p:txBody>
          <a:bodyPr wrap="square" lIns="0" tIns="0" rIns="0" bIns="0" rtlCol="0" anchor="t"/>
          <a:lstStyle/>
          <a:p>
            <a:pPr algn="l" indent="0" marL="0">
              <a:lnSpc>
                <a:spcPts val="1148"/>
              </a:lnSpc>
              <a:buNone/>
            </a:pPr>
            <a:r>
              <a:rPr lang="en-US" sz="800" i="1" dirty="0">
                <a:solidFill>
                  <a:srgbClr val="FFFFFF">
                    <a:alpha val="55000"/>
                  </a:srgbClr>
                </a:solidFill>
                <a:latin typeface="Carlito" pitchFamily="34" charset="0"/>
                <a:ea typeface="Carlito" pitchFamily="34" charset="-122"/>
                <a:cs typeface="Carlito" pitchFamily="34" charset="-120"/>
              </a:rPr>
              <a:t>Sources : African Journal of Business Management, Salesforce/Slack Study 2024, Mohac Africa</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0A1A"/>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FF7B54">
              <a:alpha val="12000"/>
            </a:srgbClr>
          </a:solidFill>
          <a:ln/>
        </p:spPr>
        <p:txBody>
          <a:bodyPr wrap="square" rtlCol="0" anchor="ctr"/>
          <a:lstStyle/>
          <a:p>
            <a:pPr indent="0" marL="0">
              <a:buNone/>
            </a:pPr>
            <a:endParaRPr lang="en-US" dirty="0"/>
          </a:p>
        </p:txBody>
      </p:sp>
      <p:pic>
        <p:nvPicPr>
          <p:cNvPr id="3" name="Image 0" descr="/tmp/h2p-fit-1781526818111-2x00zt.png">    </p:cNvPr>
          <p:cNvPicPr>
            <a:picLocks noChangeAspect="1"/>
          </p:cNvPicPr>
          <p:nvPr/>
        </p:nvPicPr>
        <p:blipFill>
          <a:blip r:embed="rId1"/>
          <a:stretch>
            <a:fillRect/>
          </a:stretch>
        </p:blipFill>
        <p:spPr>
          <a:xfrm>
            <a:off x="514350" y="457200"/>
            <a:ext cx="3651796" cy="4229100"/>
          </a:xfrm>
          <a:prstGeom prst="rect">
            <a:avLst/>
          </a:prstGeom>
          <a:effectLst>
            <a:outerShdw sx="100000" sy="100000" kx="0" ky="0" algn="bl" rotWithShape="0" blurRad="304800" dist="76200" dir="5400000">
              <a:srgbClr val="000000">
                <a:alpha val="40000"/>
              </a:srgbClr>
            </a:outerShdw>
          </a:effectLst>
        </p:spPr>
      </p:pic>
      <p:pic>
        <p:nvPicPr>
          <p:cNvPr id="4" name="Image 1" descr="preencoded.png">    </p:cNvPr>
          <p:cNvPicPr>
            <a:picLocks noChangeAspect="1"/>
          </p:cNvPicPr>
          <p:nvPr/>
        </p:nvPicPr>
        <p:blipFill>
          <a:blip r:embed="rId2"/>
          <a:stretch>
            <a:fillRect/>
          </a:stretch>
        </p:blipFill>
        <p:spPr>
          <a:xfrm>
            <a:off x="514350" y="457200"/>
            <a:ext cx="3651796" cy="4229100"/>
          </a:xfrm>
          <a:prstGeom prst="rect">
            <a:avLst/>
          </a:prstGeom>
        </p:spPr>
      </p:pic>
      <p:sp>
        <p:nvSpPr>
          <p:cNvPr id="5" name="Text 1"/>
          <p:cNvSpPr/>
          <p:nvPr/>
        </p:nvSpPr>
        <p:spPr>
          <a:xfrm>
            <a:off x="4486186" y="627234"/>
            <a:ext cx="1000192" cy="256994"/>
          </a:xfrm>
          <a:prstGeom prst="roundRect">
            <a:avLst>
              <a:gd name="adj" fmla="val 3702606"/>
            </a:avLst>
          </a:prstGeom>
          <a:solidFill>
            <a:srgbClr val="6C3FA9">
              <a:alpha val="22000"/>
            </a:srgbClr>
          </a:solidFill>
          <a:ln/>
        </p:spPr>
        <p:txBody>
          <a:bodyPr wrap="square" rtlCol="0" anchor="ctr"/>
          <a:lstStyle/>
          <a:p>
            <a:pPr indent="0" marL="0">
              <a:buNone/>
            </a:pPr>
            <a:endParaRPr lang="en-US" dirty="0"/>
          </a:p>
        </p:txBody>
      </p:sp>
      <p:sp>
        <p:nvSpPr>
          <p:cNvPr id="6" name="Text 2"/>
          <p:cNvSpPr/>
          <p:nvPr/>
        </p:nvSpPr>
        <p:spPr>
          <a:xfrm>
            <a:off x="4509046" y="640035"/>
            <a:ext cx="954472" cy="231391"/>
          </a:xfrm>
          <a:prstGeom prst="rect">
            <a:avLst/>
          </a:prstGeom>
          <a:noFill/>
          <a:ln/>
        </p:spPr>
        <p:txBody>
          <a:bodyPr wrap="none" lIns="0" tIns="0" rIns="0" bIns="0" rtlCol="0" anchor="ctr"/>
          <a:lstStyle/>
          <a:p>
            <a:pPr algn="ctr" indent="0" marL="0">
              <a:lnSpc>
                <a:spcPts val="1148"/>
              </a:lnSpc>
              <a:buNone/>
            </a:pPr>
            <a:r>
              <a:rPr lang="en-US" sz="800" spc="31" kern="0" dirty="0">
                <a:solidFill>
                  <a:srgbClr val="A78BFA"/>
                </a:solidFill>
                <a:latin typeface="Carlito" pitchFamily="34" charset="0"/>
                <a:ea typeface="Carlito" pitchFamily="34" charset="-122"/>
                <a:cs typeface="Carlito" pitchFamily="34" charset="-120"/>
              </a:rPr>
              <a:t>LA SOLUTION</a:t>
            </a:r>
            <a:endParaRPr lang="en-US" sz="800" dirty="0"/>
          </a:p>
        </p:txBody>
      </p:sp>
      <p:sp>
        <p:nvSpPr>
          <p:cNvPr id="7" name="Text 3"/>
          <p:cNvSpPr/>
          <p:nvPr/>
        </p:nvSpPr>
        <p:spPr>
          <a:xfrm>
            <a:off x="4509046" y="1014301"/>
            <a:ext cx="4634954" cy="406886"/>
          </a:xfrm>
          <a:prstGeom prst="rect">
            <a:avLst/>
          </a:prstGeom>
          <a:noFill/>
          <a:ln/>
        </p:spPr>
        <p:txBody>
          <a:bodyPr wrap="none" lIns="0" tIns="0" rIns="0" bIns="0" rtlCol="0" anchor="t"/>
          <a:lstStyle/>
          <a:p>
            <a:pPr algn="l" indent="0" marL="0">
              <a:lnSpc>
                <a:spcPts val="2970"/>
              </a:lnSpc>
              <a:buNone/>
            </a:pPr>
            <a:r>
              <a:rPr lang="en-US" sz="2700" b="1" dirty="0">
                <a:solidFill>
                  <a:srgbClr val="FF7B54"/>
                </a:solidFill>
                <a:latin typeface="Carlito" pitchFamily="34" charset="0"/>
                <a:ea typeface="Carlito" pitchFamily="34" charset="-122"/>
                <a:cs typeface="Carlito" pitchFamily="34" charset="-120"/>
              </a:rPr>
              <a:t>ProCible</a:t>
            </a:r>
            <a:endParaRPr lang="en-US" sz="2700" dirty="0"/>
          </a:p>
        </p:txBody>
      </p:sp>
      <p:sp>
        <p:nvSpPr>
          <p:cNvPr id="8" name="Text 4"/>
          <p:cNvSpPr/>
          <p:nvPr/>
        </p:nvSpPr>
        <p:spPr>
          <a:xfrm>
            <a:off x="4509046" y="1448619"/>
            <a:ext cx="4634954" cy="249902"/>
          </a:xfrm>
          <a:prstGeom prst="rect">
            <a:avLst/>
          </a:prstGeom>
          <a:noFill/>
          <a:ln/>
        </p:spPr>
        <p:txBody>
          <a:bodyPr wrap="square" lIns="0" tIns="0" rIns="0" bIns="0" rtlCol="0" anchor="t"/>
          <a:lstStyle/>
          <a:p>
            <a:pPr algn="l" indent="0" marL="0">
              <a:lnSpc>
                <a:spcPts val="1822"/>
              </a:lnSpc>
              <a:buNone/>
            </a:pPr>
            <a:r>
              <a:rPr lang="en-US" sz="1215" dirty="0">
                <a:solidFill>
                  <a:srgbClr val="FFFFFF"/>
                </a:solidFill>
                <a:latin typeface="Carlito" pitchFamily="34" charset="0"/>
                <a:ea typeface="Carlito" pitchFamily="34" charset="-122"/>
                <a:cs typeface="Carlito" pitchFamily="34" charset="-120"/>
              </a:rPr>
              <a:t>Votre assistant de prospection intelligent</a:t>
            </a:r>
            <a:endParaRPr lang="en-US" sz="1215" dirty="0"/>
          </a:p>
        </p:txBody>
      </p:sp>
      <p:pic>
        <p:nvPicPr>
          <p:cNvPr id="9" name="Image 2" descr="preencoded.png">    </p:cNvPr>
          <p:cNvPicPr>
            <a:picLocks noChangeAspect="1"/>
          </p:cNvPicPr>
          <p:nvPr/>
        </p:nvPicPr>
        <p:blipFill>
          <a:blip r:embed="rId3"/>
          <a:stretch>
            <a:fillRect/>
          </a:stretch>
        </p:blipFill>
        <p:spPr>
          <a:xfrm>
            <a:off x="4509046" y="1822884"/>
            <a:ext cx="457200" cy="21431"/>
          </a:xfrm>
          <a:prstGeom prst="rect">
            <a:avLst/>
          </a:prstGeom>
        </p:spPr>
      </p:pic>
      <p:sp>
        <p:nvSpPr>
          <p:cNvPr id="10" name="Text 5"/>
          <p:cNvSpPr/>
          <p:nvPr/>
        </p:nvSpPr>
        <p:spPr>
          <a:xfrm>
            <a:off x="4509046" y="2015765"/>
            <a:ext cx="3714750" cy="854946"/>
          </a:xfrm>
          <a:prstGeom prst="rect">
            <a:avLst/>
          </a:prstGeom>
          <a:noFill/>
          <a:ln/>
        </p:spPr>
        <p:txBody>
          <a:bodyPr wrap="square" lIns="0" tIns="0" rIns="0" bIns="0" rtlCol="0" anchor="t"/>
          <a:lstStyle/>
          <a:p>
            <a:pPr algn="l" indent="0" marL="0">
              <a:lnSpc>
                <a:spcPts val="1559"/>
              </a:lnSpc>
              <a:buNone/>
            </a:pPr>
            <a:r>
              <a:rPr lang="en-US" sz="945" dirty="0">
                <a:solidFill>
                  <a:srgbClr val="FFFFFF">
                    <a:alpha val="55000"/>
                  </a:srgbClr>
                </a:solidFill>
                <a:latin typeface="Carlito" pitchFamily="34" charset="0"/>
                <a:ea typeface="Carlito" pitchFamily="34" charset="-122"/>
                <a:cs typeface="Carlito" pitchFamily="34" charset="-120"/>
              </a:rPr>
              <a:t>ProCible trouve vos clients pour vous. Pendant que vous dormez, notre technologie identifie, qualifie et vous présente les meilleurs prospects de votre ville — prêts à être contactés. Plus besoin de chercher. Vos clients viennent à vous.</a:t>
            </a:r>
            <a:endParaRPr lang="en-US" sz="945" dirty="0"/>
          </a:p>
        </p:txBody>
      </p:sp>
      <p:sp>
        <p:nvSpPr>
          <p:cNvPr id="11" name="Text 6"/>
          <p:cNvSpPr/>
          <p:nvPr/>
        </p:nvSpPr>
        <p:spPr>
          <a:xfrm>
            <a:off x="4509046" y="3035982"/>
            <a:ext cx="314325" cy="314325"/>
          </a:xfrm>
          <a:prstGeom prst="roundRect">
            <a:avLst>
              <a:gd name="adj" fmla="val 36364"/>
            </a:avLst>
          </a:prstGeom>
          <a:solidFill>
            <a:srgbClr val="FF7B54">
              <a:alpha val="12000"/>
            </a:srgbClr>
          </a:solidFill>
          <a:ln/>
        </p:spPr>
        <p:txBody>
          <a:bodyPr wrap="square" rtlCol="0" anchor="ctr"/>
          <a:lstStyle/>
          <a:p>
            <a:pPr indent="0" marL="0">
              <a:buNone/>
            </a:pPr>
            <a:endParaRPr lang="en-US" dirty="0"/>
          </a:p>
        </p:txBody>
      </p:sp>
      <p:sp>
        <p:nvSpPr>
          <p:cNvPr id="12" name="Text 7"/>
          <p:cNvSpPr/>
          <p:nvPr/>
        </p:nvSpPr>
        <p:spPr>
          <a:xfrm>
            <a:off x="4541907" y="3068843"/>
            <a:ext cx="248602" cy="248602"/>
          </a:xfrm>
          <a:prstGeom prst="rect">
            <a:avLst/>
          </a:prstGeom>
          <a:noFill/>
          <a:ln/>
        </p:spPr>
        <p:txBody>
          <a:bodyPr wrap="none" lIns="0" tIns="0" rIns="0" bIns="0" rtlCol="0" anchor="ctr"/>
          <a:lstStyle/>
          <a:p>
            <a:pPr algn="ctr" indent="0" marL="0">
              <a:buNone/>
            </a:pPr>
            <a:r>
              <a:rPr lang="en-US" sz="1688" dirty="0">
                <a:solidFill>
                  <a:srgbClr val="FF7B54"/>
                </a:solidFill>
                <a:latin typeface="Segoe UI Symbol" pitchFamily="34" charset="0"/>
                <a:ea typeface="Segoe UI Symbol" pitchFamily="34" charset="-122"/>
                <a:cs typeface="Segoe UI Symbol" pitchFamily="34" charset="-120"/>
              </a:rPr>
              <a:t>⚡</a:t>
            </a:r>
            <a:endParaRPr lang="en-US" sz="1688" dirty="0"/>
          </a:p>
        </p:txBody>
      </p:sp>
      <p:sp>
        <p:nvSpPr>
          <p:cNvPr id="13" name="Text 8"/>
          <p:cNvSpPr/>
          <p:nvPr/>
        </p:nvSpPr>
        <p:spPr>
          <a:xfrm>
            <a:off x="4923383" y="3035982"/>
            <a:ext cx="2386679" cy="166789"/>
          </a:xfrm>
          <a:prstGeom prst="rect">
            <a:avLst/>
          </a:prstGeom>
          <a:noFill/>
          <a:ln/>
        </p:spPr>
        <p:txBody>
          <a:bodyPr wrap="none" lIns="0" tIns="0" rIns="0" bIns="0" rtlCol="0" anchor="t">
            <a:normAutofit/>
          </a:bodyPr>
          <a:lstStyle/>
          <a:p>
            <a:pPr algn="l" indent="0" marL="0">
              <a:lnSpc>
                <a:spcPts val="1418"/>
              </a:lnSpc>
              <a:buNone/>
            </a:pPr>
            <a:r>
              <a:rPr lang="en-US" sz="945" dirty="0">
                <a:solidFill>
                  <a:srgbClr val="FFFFFF"/>
                </a:solidFill>
                <a:latin typeface="Carlito" pitchFamily="34" charset="0"/>
                <a:ea typeface="Carlito" pitchFamily="34" charset="-122"/>
                <a:cs typeface="Carlito" pitchFamily="34" charset="-120"/>
              </a:rPr>
              <a:t>Automatique</a:t>
            </a:r>
            <a:endParaRPr lang="en-US" sz="945" dirty="0"/>
          </a:p>
        </p:txBody>
      </p:sp>
      <p:sp>
        <p:nvSpPr>
          <p:cNvPr id="14" name="Text 9"/>
          <p:cNvSpPr/>
          <p:nvPr/>
        </p:nvSpPr>
        <p:spPr>
          <a:xfrm>
            <a:off x="4923383" y="3230203"/>
            <a:ext cx="2199328" cy="164190"/>
          </a:xfrm>
          <a:prstGeom prst="rect">
            <a:avLst/>
          </a:prstGeom>
          <a:noFill/>
          <a:ln/>
        </p:spPr>
        <p:txBody>
          <a:bodyPr wrap="square" lIns="0" tIns="0" rIns="0" bIns="0" rtlCol="0" anchor="t"/>
          <a:lstStyle/>
          <a:p>
            <a:pPr algn="l" indent="0" marL="0">
              <a:lnSpc>
                <a:spcPts val="1197"/>
              </a:lnSpc>
              <a:buNone/>
            </a:pPr>
            <a:r>
              <a:rPr lang="en-US" sz="855" dirty="0">
                <a:solidFill>
                  <a:srgbClr val="FFFFFF">
                    <a:alpha val="50000"/>
                  </a:srgbClr>
                </a:solidFill>
                <a:latin typeface="Carlito" pitchFamily="34" charset="0"/>
                <a:ea typeface="Carlito" pitchFamily="34" charset="-122"/>
                <a:cs typeface="Carlito" pitchFamily="34" charset="-120"/>
              </a:rPr>
              <a:t>Zéro effort manuel, résultats chaque matin</a:t>
            </a:r>
            <a:endParaRPr lang="en-US" sz="855" dirty="0"/>
          </a:p>
        </p:txBody>
      </p:sp>
      <p:sp>
        <p:nvSpPr>
          <p:cNvPr id="15" name="Text 10"/>
          <p:cNvSpPr/>
          <p:nvPr/>
        </p:nvSpPr>
        <p:spPr>
          <a:xfrm>
            <a:off x="4509046" y="3525106"/>
            <a:ext cx="314325" cy="314325"/>
          </a:xfrm>
          <a:prstGeom prst="roundRect">
            <a:avLst>
              <a:gd name="adj" fmla="val 36364"/>
            </a:avLst>
          </a:prstGeom>
          <a:solidFill>
            <a:srgbClr val="FF7B54">
              <a:alpha val="12000"/>
            </a:srgbClr>
          </a:solidFill>
          <a:ln/>
        </p:spPr>
        <p:txBody>
          <a:bodyPr wrap="square" rtlCol="0" anchor="ctr"/>
          <a:lstStyle/>
          <a:p>
            <a:pPr indent="0" marL="0">
              <a:buNone/>
            </a:pPr>
            <a:endParaRPr lang="en-US" dirty="0"/>
          </a:p>
        </p:txBody>
      </p:sp>
      <p:sp>
        <p:nvSpPr>
          <p:cNvPr id="16" name="Text 11"/>
          <p:cNvSpPr/>
          <p:nvPr/>
        </p:nvSpPr>
        <p:spPr>
          <a:xfrm>
            <a:off x="4541907" y="3557967"/>
            <a:ext cx="248602" cy="248602"/>
          </a:xfrm>
          <a:prstGeom prst="rect">
            <a:avLst/>
          </a:prstGeom>
          <a:noFill/>
          <a:ln/>
        </p:spPr>
        <p:txBody>
          <a:bodyPr wrap="none" lIns="0" tIns="0" rIns="0" bIns="0" rtlCol="0" anchor="ctr"/>
          <a:lstStyle/>
          <a:p>
            <a:pPr algn="ctr" indent="0" marL="0">
              <a:buNone/>
            </a:pPr>
            <a:r>
              <a:rPr lang="en-US" sz="1688" dirty="0">
                <a:solidFill>
                  <a:srgbClr val="FF7B54"/>
                </a:solidFill>
                <a:latin typeface="Segoe UI Symbol" pitchFamily="34" charset="0"/>
                <a:ea typeface="Segoe UI Symbol" pitchFamily="34" charset="-122"/>
                <a:cs typeface="Segoe UI Symbol" pitchFamily="34" charset="-120"/>
              </a:rPr>
              <a:t>◎</a:t>
            </a:r>
            <a:endParaRPr lang="en-US" sz="1688" dirty="0"/>
          </a:p>
        </p:txBody>
      </p:sp>
      <p:sp>
        <p:nvSpPr>
          <p:cNvPr id="17" name="Text 12"/>
          <p:cNvSpPr/>
          <p:nvPr/>
        </p:nvSpPr>
        <p:spPr>
          <a:xfrm>
            <a:off x="4923383" y="3525106"/>
            <a:ext cx="2477738" cy="166789"/>
          </a:xfrm>
          <a:prstGeom prst="rect">
            <a:avLst/>
          </a:prstGeom>
          <a:noFill/>
          <a:ln/>
        </p:spPr>
        <p:txBody>
          <a:bodyPr wrap="none" lIns="0" tIns="0" rIns="0" bIns="0" rtlCol="0" anchor="t">
            <a:normAutofit/>
          </a:bodyPr>
          <a:lstStyle/>
          <a:p>
            <a:pPr algn="l" indent="0" marL="0">
              <a:lnSpc>
                <a:spcPts val="1418"/>
              </a:lnSpc>
              <a:buNone/>
            </a:pPr>
            <a:r>
              <a:rPr lang="en-US" sz="945" dirty="0">
                <a:solidFill>
                  <a:srgbClr val="FFFFFF"/>
                </a:solidFill>
                <a:latin typeface="Carlito" pitchFamily="34" charset="0"/>
                <a:ea typeface="Carlito" pitchFamily="34" charset="-122"/>
                <a:cs typeface="Carlito" pitchFamily="34" charset="-120"/>
              </a:rPr>
              <a:t>Localisé</a:t>
            </a:r>
            <a:endParaRPr lang="en-US" sz="945" dirty="0"/>
          </a:p>
        </p:txBody>
      </p:sp>
      <p:sp>
        <p:nvSpPr>
          <p:cNvPr id="18" name="Text 13"/>
          <p:cNvSpPr/>
          <p:nvPr/>
        </p:nvSpPr>
        <p:spPr>
          <a:xfrm>
            <a:off x="4923383" y="3719326"/>
            <a:ext cx="2090592" cy="164190"/>
          </a:xfrm>
          <a:prstGeom prst="rect">
            <a:avLst/>
          </a:prstGeom>
          <a:noFill/>
          <a:ln/>
        </p:spPr>
        <p:txBody>
          <a:bodyPr wrap="square" lIns="0" tIns="0" rIns="0" bIns="0" rtlCol="0" anchor="t"/>
          <a:lstStyle/>
          <a:p>
            <a:pPr algn="l" indent="0" marL="0">
              <a:lnSpc>
                <a:spcPts val="1197"/>
              </a:lnSpc>
              <a:buNone/>
            </a:pPr>
            <a:r>
              <a:rPr lang="en-US" sz="855" dirty="0">
                <a:solidFill>
                  <a:srgbClr val="FFFFFF">
                    <a:alpha val="50000"/>
                  </a:srgbClr>
                </a:solidFill>
                <a:latin typeface="Carlito" pitchFamily="34" charset="0"/>
                <a:ea typeface="Carlito" pitchFamily="34" charset="-122"/>
                <a:cs typeface="Carlito" pitchFamily="34" charset="-120"/>
              </a:rPr>
              <a:t>Prospects dans votre ville, votre quartier</a:t>
            </a:r>
            <a:endParaRPr lang="en-US" sz="855" dirty="0"/>
          </a:p>
        </p:txBody>
      </p:sp>
      <p:sp>
        <p:nvSpPr>
          <p:cNvPr id="19" name="Text 14"/>
          <p:cNvSpPr/>
          <p:nvPr/>
        </p:nvSpPr>
        <p:spPr>
          <a:xfrm>
            <a:off x="4509046" y="4014229"/>
            <a:ext cx="314325" cy="314325"/>
          </a:xfrm>
          <a:prstGeom prst="roundRect">
            <a:avLst>
              <a:gd name="adj" fmla="val 36364"/>
            </a:avLst>
          </a:prstGeom>
          <a:solidFill>
            <a:srgbClr val="FF7B54">
              <a:alpha val="12000"/>
            </a:srgbClr>
          </a:solidFill>
          <a:ln/>
        </p:spPr>
        <p:txBody>
          <a:bodyPr wrap="square" rtlCol="0" anchor="ctr"/>
          <a:lstStyle/>
          <a:p>
            <a:pPr indent="0" marL="0">
              <a:buNone/>
            </a:pPr>
            <a:endParaRPr lang="en-US" dirty="0"/>
          </a:p>
        </p:txBody>
      </p:sp>
      <p:sp>
        <p:nvSpPr>
          <p:cNvPr id="20" name="Text 15"/>
          <p:cNvSpPr/>
          <p:nvPr/>
        </p:nvSpPr>
        <p:spPr>
          <a:xfrm>
            <a:off x="4541907" y="4047091"/>
            <a:ext cx="248602" cy="248602"/>
          </a:xfrm>
          <a:prstGeom prst="rect">
            <a:avLst/>
          </a:prstGeom>
          <a:noFill/>
          <a:ln/>
        </p:spPr>
        <p:txBody>
          <a:bodyPr wrap="none" lIns="0" tIns="0" rIns="0" bIns="0" rtlCol="0" anchor="ctr"/>
          <a:lstStyle/>
          <a:p>
            <a:pPr algn="ctr" indent="0" marL="0">
              <a:buNone/>
            </a:pPr>
            <a:r>
              <a:rPr lang="en-US" sz="1688" dirty="0">
                <a:solidFill>
                  <a:srgbClr val="FF7B54"/>
                </a:solidFill>
                <a:latin typeface="Segoe UI Symbol" pitchFamily="34" charset="0"/>
                <a:ea typeface="Segoe UI Symbol" pitchFamily="34" charset="-122"/>
                <a:cs typeface="Segoe UI Symbol" pitchFamily="34" charset="-120"/>
              </a:rPr>
              <a:t>✦</a:t>
            </a:r>
            <a:endParaRPr lang="en-US" sz="1688" dirty="0"/>
          </a:p>
        </p:txBody>
      </p:sp>
      <p:sp>
        <p:nvSpPr>
          <p:cNvPr id="21" name="Text 16"/>
          <p:cNvSpPr/>
          <p:nvPr/>
        </p:nvSpPr>
        <p:spPr>
          <a:xfrm>
            <a:off x="4923383" y="4014229"/>
            <a:ext cx="2693190" cy="166789"/>
          </a:xfrm>
          <a:prstGeom prst="rect">
            <a:avLst/>
          </a:prstGeom>
          <a:noFill/>
          <a:ln/>
        </p:spPr>
        <p:txBody>
          <a:bodyPr wrap="none" lIns="0" tIns="0" rIns="0" bIns="0" rtlCol="0" anchor="t">
            <a:normAutofit/>
          </a:bodyPr>
          <a:lstStyle/>
          <a:p>
            <a:pPr algn="l" indent="0" marL="0">
              <a:lnSpc>
                <a:spcPts val="1418"/>
              </a:lnSpc>
              <a:buNone/>
            </a:pPr>
            <a:r>
              <a:rPr lang="en-US" sz="945" dirty="0">
                <a:solidFill>
                  <a:srgbClr val="FFFFFF"/>
                </a:solidFill>
                <a:latin typeface="Carlito" pitchFamily="34" charset="0"/>
                <a:ea typeface="Carlito" pitchFamily="34" charset="-122"/>
                <a:cs typeface="Carlito" pitchFamily="34" charset="-120"/>
              </a:rPr>
              <a:t>Intelligent</a:t>
            </a:r>
            <a:endParaRPr lang="en-US" sz="945" dirty="0"/>
          </a:p>
        </p:txBody>
      </p:sp>
      <p:sp>
        <p:nvSpPr>
          <p:cNvPr id="22" name="Text 17"/>
          <p:cNvSpPr/>
          <p:nvPr/>
        </p:nvSpPr>
        <p:spPr>
          <a:xfrm>
            <a:off x="4923383" y="4208450"/>
            <a:ext cx="2481779" cy="164190"/>
          </a:xfrm>
          <a:prstGeom prst="rect">
            <a:avLst/>
          </a:prstGeom>
          <a:noFill/>
          <a:ln/>
        </p:spPr>
        <p:txBody>
          <a:bodyPr wrap="square" lIns="0" tIns="0" rIns="0" bIns="0" rtlCol="0" anchor="t"/>
          <a:lstStyle/>
          <a:p>
            <a:pPr algn="l" indent="0" marL="0">
              <a:lnSpc>
                <a:spcPts val="1197"/>
              </a:lnSpc>
              <a:buNone/>
            </a:pPr>
            <a:r>
              <a:rPr lang="en-US" sz="855" dirty="0">
                <a:solidFill>
                  <a:srgbClr val="FFFFFF">
                    <a:alpha val="50000"/>
                  </a:srgbClr>
                </a:solidFill>
                <a:latin typeface="Carlito" pitchFamily="34" charset="0"/>
                <a:ea typeface="Carlito" pitchFamily="34" charset="-122"/>
                <a:cs typeface="Carlito" pitchFamily="34" charset="-120"/>
              </a:rPr>
              <a:t>Chaque prospect est scoré et qualifié pour vous</a:t>
            </a:r>
            <a:endParaRPr lang="en-US" sz="85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0A1A"/>
        </a:solidFill>
      </p:bgPr>
    </p:bg>
    <p:spTree>
      <p:nvGrpSpPr>
        <p:cNvPr id="1" name=""/>
        <p:cNvGrpSpPr/>
        <p:nvPr/>
      </p:nvGrpSpPr>
      <p:grpSpPr>
        <a:xfrm>
          <a:off x="0" y="0"/>
          <a:ext cx="0" cy="0"/>
          <a:chOff x="0" y="0"/>
          <a:chExt cx="0" cy="0"/>
        </a:xfrm>
      </p:grpSpPr>
      <p:sp>
        <p:nvSpPr>
          <p:cNvPr id="2" name="Text 0"/>
          <p:cNvSpPr/>
          <p:nvPr/>
        </p:nvSpPr>
        <p:spPr>
          <a:xfrm>
            <a:off x="7429500" y="-428625"/>
            <a:ext cx="2143125" cy="2143125"/>
          </a:xfrm>
          <a:prstGeom prst="ellipse">
            <a:avLst/>
          </a:prstGeom>
          <a:solidFill>
            <a:srgbClr val="FFFFFF">
              <a:alpha val="0"/>
            </a:srgbClr>
          </a:solidFill>
          <a:ln/>
        </p:spPr>
        <p:txBody>
          <a:bodyPr wrap="square" rtlCol="0" anchor="ctr"/>
          <a:lstStyle/>
          <a:p>
            <a:pPr indent="0" marL="0">
              <a:buNone/>
            </a:pPr>
            <a:endParaRPr lang="en-US" dirty="0"/>
          </a:p>
        </p:txBody>
      </p:sp>
      <p:sp>
        <p:nvSpPr>
          <p:cNvPr id="3" name="Text 1"/>
          <p:cNvSpPr/>
          <p:nvPr/>
        </p:nvSpPr>
        <p:spPr>
          <a:xfrm>
            <a:off x="-571500" y="3214688"/>
            <a:ext cx="2500313" cy="2500313"/>
          </a:xfrm>
          <a:prstGeom prst="ellipse">
            <a:avLst/>
          </a:prstGeom>
          <a:solidFill>
            <a:srgbClr val="FFFFFF">
              <a:alpha val="0"/>
            </a:srgbClr>
          </a:solidFill>
          <a:ln/>
        </p:spPr>
        <p:txBody>
          <a:bodyPr wrap="square" rtlCol="0" anchor="ctr"/>
          <a:lstStyle/>
          <a:p>
            <a:pPr indent="0" marL="0">
              <a:buNone/>
            </a:pPr>
            <a:endParaRPr lang="en-US" dirty="0"/>
          </a:p>
        </p:txBody>
      </p:sp>
      <p:sp>
        <p:nvSpPr>
          <p:cNvPr id="4" name="Text 2"/>
          <p:cNvSpPr/>
          <p:nvPr/>
        </p:nvSpPr>
        <p:spPr>
          <a:xfrm>
            <a:off x="491490" y="444398"/>
            <a:ext cx="915137" cy="256994"/>
          </a:xfrm>
          <a:prstGeom prst="roundRect">
            <a:avLst>
              <a:gd name="adj" fmla="val 3702606"/>
            </a:avLst>
          </a:prstGeom>
          <a:solidFill>
            <a:srgbClr val="FF7B54">
              <a:alpha val="18000"/>
            </a:srgbClr>
          </a:solidFill>
          <a:ln/>
        </p:spPr>
        <p:txBody>
          <a:bodyPr wrap="square" rtlCol="0" anchor="ctr"/>
          <a:lstStyle/>
          <a:p>
            <a:pPr indent="0" marL="0">
              <a:buNone/>
            </a:pPr>
            <a:endParaRPr lang="en-US" dirty="0"/>
          </a:p>
        </p:txBody>
      </p:sp>
      <p:sp>
        <p:nvSpPr>
          <p:cNvPr id="5" name="Text 3"/>
          <p:cNvSpPr/>
          <p:nvPr/>
        </p:nvSpPr>
        <p:spPr>
          <a:xfrm>
            <a:off x="514350" y="457200"/>
            <a:ext cx="869417" cy="231391"/>
          </a:xfrm>
          <a:prstGeom prst="rect">
            <a:avLst/>
          </a:prstGeom>
          <a:noFill/>
          <a:ln/>
        </p:spPr>
        <p:txBody>
          <a:bodyPr wrap="none" lIns="0" tIns="0" rIns="0" bIns="0" rtlCol="0" anchor="ctr"/>
          <a:lstStyle/>
          <a:p>
            <a:pPr algn="ctr" indent="0" marL="0">
              <a:lnSpc>
                <a:spcPts val="1148"/>
              </a:lnSpc>
              <a:buNone/>
            </a:pPr>
            <a:r>
              <a:rPr lang="en-US" sz="800" spc="31" kern="0" dirty="0">
                <a:solidFill>
                  <a:srgbClr val="FF7B54"/>
                </a:solidFill>
                <a:latin typeface="Carlito" pitchFamily="34" charset="0"/>
                <a:ea typeface="Carlito" pitchFamily="34" charset="-122"/>
                <a:cs typeface="Carlito" pitchFamily="34" charset="-120"/>
              </a:rPr>
              <a:t>LE MARCHÉ</a:t>
            </a:r>
            <a:endParaRPr lang="en-US" sz="800" dirty="0"/>
          </a:p>
        </p:txBody>
      </p:sp>
      <p:sp>
        <p:nvSpPr>
          <p:cNvPr id="6" name="Text 4"/>
          <p:cNvSpPr/>
          <p:nvPr/>
        </p:nvSpPr>
        <p:spPr>
          <a:xfrm>
            <a:off x="514350" y="802891"/>
            <a:ext cx="5715000" cy="567794"/>
          </a:xfrm>
          <a:prstGeom prst="rect">
            <a:avLst/>
          </a:prstGeom>
          <a:noFill/>
          <a:ln/>
        </p:spPr>
        <p:txBody>
          <a:bodyPr wrap="square" lIns="0" tIns="0" rIns="0" bIns="0" rtlCol="0" anchor="t"/>
          <a:lstStyle/>
          <a:p>
            <a:pPr algn="l" indent="0" marL="0">
              <a:lnSpc>
                <a:spcPts val="2070"/>
              </a:lnSpc>
              <a:buNone/>
            </a:pPr>
            <a:r>
              <a:rPr lang="en-US" sz="1800" b="1" dirty="0">
                <a:solidFill>
                  <a:srgbClr val="FFFFFF"/>
                </a:solidFill>
                <a:latin typeface="Carlito" pitchFamily="34" charset="0"/>
                <a:ea typeface="Carlito" pitchFamily="34" charset="-122"/>
                <a:cs typeface="Carlito" pitchFamily="34" charset="-120"/>
              </a:rPr>
              <a:t>Un marché de 90+ milliards $ qui attend sa solution africaine</a:t>
            </a:r>
            <a:endParaRPr lang="en-US" sz="1800" dirty="0"/>
          </a:p>
        </p:txBody>
      </p:sp>
      <p:sp>
        <p:nvSpPr>
          <p:cNvPr id="7" name="Text 5"/>
          <p:cNvSpPr/>
          <p:nvPr/>
        </p:nvSpPr>
        <p:spPr>
          <a:xfrm>
            <a:off x="517922" y="1560798"/>
            <a:ext cx="5355357" cy="1315678"/>
          </a:xfrm>
          <a:prstGeom prst="roundRect">
            <a:avLst>
              <a:gd name="adj" fmla="val 11583"/>
            </a:avLst>
          </a:prstGeom>
          <a:solidFill>
            <a:srgbClr val="FFFFFF">
              <a:alpha val="6000"/>
            </a:srgbClr>
          </a:solidFill>
          <a:ln w="7144">
            <a:solidFill>
              <a:srgbClr val="FFFFFF"/>
            </a:solidFill>
            <a:prstDash val="solid"/>
          </a:ln>
        </p:spPr>
        <p:txBody>
          <a:bodyPr wrap="square" rtlCol="0" anchor="ctr"/>
          <a:lstStyle/>
          <a:p>
            <a:pPr indent="0" marL="0">
              <a:buNone/>
            </a:pPr>
            <a:endParaRPr lang="en-US" dirty="0"/>
          </a:p>
        </p:txBody>
      </p:sp>
      <p:sp>
        <p:nvSpPr>
          <p:cNvPr id="8" name="Text 6"/>
          <p:cNvSpPr/>
          <p:nvPr/>
        </p:nvSpPr>
        <p:spPr>
          <a:xfrm>
            <a:off x="778669" y="1792970"/>
            <a:ext cx="4833863" cy="444350"/>
          </a:xfrm>
          <a:prstGeom prst="rect">
            <a:avLst/>
          </a:prstGeom>
          <a:noFill/>
          <a:ln/>
        </p:spPr>
        <p:txBody>
          <a:bodyPr wrap="none" lIns="0" tIns="0" rIns="0" bIns="0" rtlCol="0" anchor="t"/>
          <a:lstStyle/>
          <a:p>
            <a:pPr algn="l" indent="0" marL="0">
              <a:lnSpc>
                <a:spcPts val="3240"/>
              </a:lnSpc>
              <a:buNone/>
            </a:pPr>
            <a:r>
              <a:rPr lang="en-US" sz="3240" b="1" dirty="0">
                <a:solidFill>
                  <a:srgbClr val="FF7B54"/>
                </a:solidFill>
                <a:latin typeface="Liberation Sans Narrow" pitchFamily="34" charset="0"/>
                <a:ea typeface="Liberation Sans Narrow" pitchFamily="34" charset="-122"/>
                <a:cs typeface="Liberation Sans Narrow" pitchFamily="34" charset="-120"/>
              </a:rPr>
              <a:t>$90B+</a:t>
            </a:r>
            <a:endParaRPr lang="en-US" sz="3240" dirty="0"/>
          </a:p>
        </p:txBody>
      </p:sp>
      <p:sp>
        <p:nvSpPr>
          <p:cNvPr id="9" name="Text 7"/>
          <p:cNvSpPr/>
          <p:nvPr/>
        </p:nvSpPr>
        <p:spPr>
          <a:xfrm>
            <a:off x="778669" y="2275842"/>
            <a:ext cx="4943591" cy="194328"/>
          </a:xfrm>
          <a:prstGeom prst="rect">
            <a:avLst/>
          </a:prstGeom>
          <a:noFill/>
          <a:ln/>
        </p:spPr>
        <p:txBody>
          <a:bodyPr wrap="square" lIns="0" tIns="0" rIns="0" bIns="0" rtlCol="0" anchor="t"/>
          <a:lstStyle/>
          <a:p>
            <a:pPr algn="l" indent="0" marL="0">
              <a:lnSpc>
                <a:spcPts val="1418"/>
              </a:lnSpc>
              <a:buNone/>
            </a:pPr>
            <a:r>
              <a:rPr lang="en-US" sz="945" dirty="0">
                <a:solidFill>
                  <a:srgbClr val="FFFFFF"/>
                </a:solidFill>
                <a:latin typeface="Liberation Sans Narrow" pitchFamily="34" charset="0"/>
                <a:ea typeface="Liberation Sans Narrow" pitchFamily="34" charset="-122"/>
                <a:cs typeface="Liberation Sans Narrow" pitchFamily="34" charset="-120"/>
              </a:rPr>
              <a:t>Marché mondial du CRM (2024)</a:t>
            </a:r>
            <a:endParaRPr lang="en-US" sz="945" dirty="0"/>
          </a:p>
        </p:txBody>
      </p:sp>
      <p:sp>
        <p:nvSpPr>
          <p:cNvPr id="10" name="Text 8"/>
          <p:cNvSpPr/>
          <p:nvPr/>
        </p:nvSpPr>
        <p:spPr>
          <a:xfrm>
            <a:off x="778669" y="2498638"/>
            <a:ext cx="4943591" cy="145666"/>
          </a:xfrm>
          <a:prstGeom prst="rect">
            <a:avLst/>
          </a:prstGeom>
          <a:noFill/>
          <a:ln/>
        </p:spPr>
        <p:txBody>
          <a:bodyPr wrap="square" lIns="0" tIns="0" rIns="0" bIns="0" rtlCol="0" anchor="t"/>
          <a:lstStyle/>
          <a:p>
            <a:pPr algn="l" indent="0" marL="0">
              <a:lnSpc>
                <a:spcPts val="1148"/>
              </a:lnSpc>
              <a:buNone/>
            </a:pPr>
            <a:r>
              <a:rPr lang="en-US" sz="800" dirty="0">
                <a:solidFill>
                  <a:srgbClr val="FFFFFF">
                    <a:alpha val="55000"/>
                  </a:srgbClr>
                </a:solidFill>
                <a:latin typeface="Carlito" pitchFamily="34" charset="0"/>
                <a:ea typeface="Carlito" pitchFamily="34" charset="-122"/>
                <a:cs typeface="Carlito" pitchFamily="34" charset="-120"/>
              </a:rPr>
              <a:t>Croissance de 14% par an — Grand View Research</a:t>
            </a:r>
            <a:endParaRPr lang="en-US" sz="800" dirty="0"/>
          </a:p>
        </p:txBody>
      </p:sp>
      <p:sp>
        <p:nvSpPr>
          <p:cNvPr id="11" name="Text 9"/>
          <p:cNvSpPr/>
          <p:nvPr/>
        </p:nvSpPr>
        <p:spPr>
          <a:xfrm>
            <a:off x="6023297" y="1560798"/>
            <a:ext cx="2602781" cy="1315678"/>
          </a:xfrm>
          <a:prstGeom prst="roundRect">
            <a:avLst>
              <a:gd name="adj" fmla="val 11583"/>
            </a:avLst>
          </a:prstGeom>
          <a:solidFill>
            <a:srgbClr val="FFFFFF">
              <a:alpha val="6000"/>
            </a:srgbClr>
          </a:solidFill>
          <a:ln w="7144">
            <a:solidFill>
              <a:srgbClr val="FFFFFF"/>
            </a:solidFill>
            <a:prstDash val="solid"/>
          </a:ln>
        </p:spPr>
        <p:txBody>
          <a:bodyPr wrap="square" rtlCol="0" anchor="ctr"/>
          <a:lstStyle/>
          <a:p>
            <a:pPr indent="0" marL="0">
              <a:buNone/>
            </a:pPr>
            <a:endParaRPr lang="en-US" dirty="0"/>
          </a:p>
        </p:txBody>
      </p:sp>
      <p:sp>
        <p:nvSpPr>
          <p:cNvPr id="12" name="Text 10"/>
          <p:cNvSpPr/>
          <p:nvPr/>
        </p:nvSpPr>
        <p:spPr>
          <a:xfrm>
            <a:off x="6241182" y="1815740"/>
            <a:ext cx="2167012" cy="395045"/>
          </a:xfrm>
          <a:prstGeom prst="rect">
            <a:avLst/>
          </a:prstGeom>
          <a:noFill/>
          <a:ln/>
        </p:spPr>
        <p:txBody>
          <a:bodyPr wrap="none" lIns="0" tIns="0" rIns="0" bIns="0" rtlCol="0" anchor="t"/>
          <a:lstStyle/>
          <a:p>
            <a:pPr algn="l" indent="0" marL="0">
              <a:lnSpc>
                <a:spcPts val="2880"/>
              </a:lnSpc>
              <a:buNone/>
            </a:pPr>
            <a:r>
              <a:rPr lang="en-US" sz="2880" b="1" dirty="0">
                <a:solidFill>
                  <a:srgbClr val="6C3FA9"/>
                </a:solidFill>
                <a:latin typeface="Liberation Sans Narrow" pitchFamily="34" charset="0"/>
                <a:ea typeface="Liberation Sans Narrow" pitchFamily="34" charset="-122"/>
                <a:cs typeface="Liberation Sans Narrow" pitchFamily="34" charset="-120"/>
              </a:rPr>
              <a:t>44M+</a:t>
            </a:r>
            <a:endParaRPr lang="en-US" sz="2880" dirty="0"/>
          </a:p>
        </p:txBody>
      </p:sp>
      <p:sp>
        <p:nvSpPr>
          <p:cNvPr id="13" name="Text 11"/>
          <p:cNvSpPr/>
          <p:nvPr/>
        </p:nvSpPr>
        <p:spPr>
          <a:xfrm>
            <a:off x="6241182" y="2252960"/>
            <a:ext cx="2276740" cy="194328"/>
          </a:xfrm>
          <a:prstGeom prst="rect">
            <a:avLst/>
          </a:prstGeom>
          <a:noFill/>
          <a:ln/>
        </p:spPr>
        <p:txBody>
          <a:bodyPr wrap="square" lIns="0" tIns="0" rIns="0" bIns="0" rtlCol="0" anchor="t"/>
          <a:lstStyle/>
          <a:p>
            <a:pPr algn="l" indent="0" marL="0">
              <a:lnSpc>
                <a:spcPts val="1418"/>
              </a:lnSpc>
              <a:buNone/>
            </a:pPr>
            <a:r>
              <a:rPr lang="en-US" sz="945" dirty="0">
                <a:solidFill>
                  <a:srgbClr val="FFFFFF"/>
                </a:solidFill>
                <a:latin typeface="Carlito" pitchFamily="34" charset="0"/>
                <a:ea typeface="Carlito" pitchFamily="34" charset="-122"/>
                <a:cs typeface="Carlito" pitchFamily="34" charset="-120"/>
              </a:rPr>
              <a:t>PME en Afrique subsaharienne</a:t>
            </a:r>
            <a:endParaRPr lang="en-US" sz="945" dirty="0"/>
          </a:p>
        </p:txBody>
      </p:sp>
      <p:sp>
        <p:nvSpPr>
          <p:cNvPr id="14" name="Text 12"/>
          <p:cNvSpPr/>
          <p:nvPr/>
        </p:nvSpPr>
        <p:spPr>
          <a:xfrm>
            <a:off x="6241182" y="2475756"/>
            <a:ext cx="2276740" cy="164516"/>
          </a:xfrm>
          <a:prstGeom prst="rect">
            <a:avLst/>
          </a:prstGeom>
          <a:noFill/>
          <a:ln/>
        </p:spPr>
        <p:txBody>
          <a:bodyPr wrap="square" lIns="0" tIns="0" rIns="0" bIns="0" rtlCol="0" anchor="t"/>
          <a:lstStyle/>
          <a:p>
            <a:pPr algn="l" indent="0" marL="0">
              <a:lnSpc>
                <a:spcPts val="1148"/>
              </a:lnSpc>
              <a:buNone/>
            </a:pPr>
            <a:r>
              <a:rPr lang="en-US" sz="800" dirty="0">
                <a:solidFill>
                  <a:srgbClr val="FFFFFF">
                    <a:alpha val="55000"/>
                  </a:srgbClr>
                </a:solidFill>
                <a:latin typeface="Carlito" pitchFamily="34" charset="0"/>
                <a:ea typeface="Carlito" pitchFamily="34" charset="-122"/>
                <a:cs typeface="Carlito" pitchFamily="34" charset="-120"/>
              </a:rPr>
              <a:t>Marché adressable immédiat</a:t>
            </a:r>
            <a:endParaRPr lang="en-US" sz="800" dirty="0"/>
          </a:p>
        </p:txBody>
      </p:sp>
      <p:sp>
        <p:nvSpPr>
          <p:cNvPr id="15" name="Text 13"/>
          <p:cNvSpPr/>
          <p:nvPr/>
        </p:nvSpPr>
        <p:spPr>
          <a:xfrm>
            <a:off x="517922" y="3026494"/>
            <a:ext cx="2602669" cy="1212875"/>
          </a:xfrm>
          <a:prstGeom prst="roundRect">
            <a:avLst>
              <a:gd name="adj" fmla="val 12565"/>
            </a:avLst>
          </a:prstGeom>
          <a:solidFill>
            <a:srgbClr val="FFFFFF">
              <a:alpha val="6000"/>
            </a:srgbClr>
          </a:solidFill>
          <a:ln w="7144">
            <a:solidFill>
              <a:srgbClr val="FFFFFF"/>
            </a:solidFill>
            <a:prstDash val="solid"/>
          </a:ln>
        </p:spPr>
        <p:txBody>
          <a:bodyPr wrap="square" rtlCol="0" anchor="ctr"/>
          <a:lstStyle/>
          <a:p>
            <a:pPr indent="0" marL="0">
              <a:buNone/>
            </a:pPr>
            <a:endParaRPr lang="en-US" dirty="0"/>
          </a:p>
        </p:txBody>
      </p:sp>
      <p:sp>
        <p:nvSpPr>
          <p:cNvPr id="16" name="Text 14"/>
          <p:cNvSpPr/>
          <p:nvPr/>
        </p:nvSpPr>
        <p:spPr>
          <a:xfrm>
            <a:off x="721519" y="3278646"/>
            <a:ext cx="2195475" cy="320906"/>
          </a:xfrm>
          <a:prstGeom prst="rect">
            <a:avLst/>
          </a:prstGeom>
          <a:noFill/>
          <a:ln/>
        </p:spPr>
        <p:txBody>
          <a:bodyPr wrap="none" lIns="0" tIns="0" rIns="0" bIns="0" rtlCol="0" anchor="t"/>
          <a:lstStyle/>
          <a:p>
            <a:pPr algn="l" indent="0" marL="0">
              <a:lnSpc>
                <a:spcPts val="2340"/>
              </a:lnSpc>
              <a:buNone/>
            </a:pPr>
            <a:r>
              <a:rPr lang="en-US" sz="2340" b="1" dirty="0">
                <a:solidFill>
                  <a:srgbClr val="FF7B54"/>
                </a:solidFill>
                <a:latin typeface="Liberation Sans Narrow" pitchFamily="34" charset="0"/>
                <a:ea typeface="Liberation Sans Narrow" pitchFamily="34" charset="-122"/>
                <a:cs typeface="Liberation Sans Narrow" pitchFamily="34" charset="-120"/>
              </a:rPr>
              <a:t>8</a:t>
            </a:r>
            <a:endParaRPr lang="en-US" sz="2340" dirty="0"/>
          </a:p>
        </p:txBody>
      </p:sp>
      <p:sp>
        <p:nvSpPr>
          <p:cNvPr id="17" name="Text 15"/>
          <p:cNvSpPr/>
          <p:nvPr/>
        </p:nvSpPr>
        <p:spPr>
          <a:xfrm>
            <a:off x="721519" y="3632932"/>
            <a:ext cx="2305203" cy="181076"/>
          </a:xfrm>
          <a:prstGeom prst="rect">
            <a:avLst/>
          </a:prstGeom>
          <a:noFill/>
          <a:ln/>
        </p:spPr>
        <p:txBody>
          <a:bodyPr wrap="square" lIns="0" tIns="0" rIns="0" bIns="0" rtlCol="0" anchor="t">
            <a:normAutofit/>
          </a:bodyPr>
          <a:lstStyle/>
          <a:p>
            <a:pPr algn="l" indent="0" marL="0">
              <a:lnSpc>
                <a:spcPts val="1418"/>
              </a:lnSpc>
              <a:buNone/>
            </a:pPr>
            <a:r>
              <a:rPr lang="en-US" sz="945" dirty="0">
                <a:solidFill>
                  <a:srgbClr val="FFFFFF"/>
                </a:solidFill>
                <a:latin typeface="Carlito" pitchFamily="34" charset="0"/>
                <a:ea typeface="Carlito" pitchFamily="34" charset="-122"/>
                <a:cs typeface="Carlito" pitchFamily="34" charset="-120"/>
              </a:rPr>
              <a:t>villes couvertes au Cameroun</a:t>
            </a:r>
            <a:endParaRPr lang="en-US" sz="945" dirty="0"/>
          </a:p>
        </p:txBody>
      </p:sp>
      <p:sp>
        <p:nvSpPr>
          <p:cNvPr id="18" name="Text 16"/>
          <p:cNvSpPr/>
          <p:nvPr/>
        </p:nvSpPr>
        <p:spPr>
          <a:xfrm>
            <a:off x="721519" y="3841440"/>
            <a:ext cx="2305203" cy="164516"/>
          </a:xfrm>
          <a:prstGeom prst="rect">
            <a:avLst/>
          </a:prstGeom>
          <a:noFill/>
          <a:ln/>
        </p:spPr>
        <p:txBody>
          <a:bodyPr wrap="square" lIns="0" tIns="0" rIns="0" bIns="0" rtlCol="0" anchor="t"/>
          <a:lstStyle/>
          <a:p>
            <a:pPr algn="l" indent="0" marL="0">
              <a:lnSpc>
                <a:spcPts val="1148"/>
              </a:lnSpc>
              <a:buNone/>
            </a:pPr>
            <a:r>
              <a:rPr lang="en-US" sz="800" dirty="0">
                <a:solidFill>
                  <a:srgbClr val="FFFFFF">
                    <a:alpha val="55000"/>
                  </a:srgbClr>
                </a:solidFill>
                <a:latin typeface="Carlito" pitchFamily="34" charset="0"/>
                <a:ea typeface="Carlito" pitchFamily="34" charset="-122"/>
                <a:cs typeface="Carlito" pitchFamily="34" charset="-120"/>
              </a:rPr>
              <a:t>Douala, Yaoundé, Bafoussam...</a:t>
            </a:r>
            <a:endParaRPr lang="en-US" sz="800" dirty="0"/>
          </a:p>
        </p:txBody>
      </p:sp>
      <p:sp>
        <p:nvSpPr>
          <p:cNvPr id="19" name="Text 17"/>
          <p:cNvSpPr/>
          <p:nvPr/>
        </p:nvSpPr>
        <p:spPr>
          <a:xfrm>
            <a:off x="3270610" y="3026494"/>
            <a:ext cx="2602669" cy="1212875"/>
          </a:xfrm>
          <a:prstGeom prst="roundRect">
            <a:avLst>
              <a:gd name="adj" fmla="val 12565"/>
            </a:avLst>
          </a:prstGeom>
          <a:solidFill>
            <a:srgbClr val="FFFFFF">
              <a:alpha val="6000"/>
            </a:srgbClr>
          </a:solidFill>
          <a:ln w="7144">
            <a:solidFill>
              <a:srgbClr val="FFFFFF"/>
            </a:solidFill>
            <a:prstDash val="solid"/>
          </a:ln>
        </p:spPr>
        <p:txBody>
          <a:bodyPr wrap="square" rtlCol="0" anchor="ctr"/>
          <a:lstStyle/>
          <a:p>
            <a:pPr indent="0" marL="0">
              <a:buNone/>
            </a:pPr>
            <a:endParaRPr lang="en-US" dirty="0"/>
          </a:p>
        </p:txBody>
      </p:sp>
      <p:sp>
        <p:nvSpPr>
          <p:cNvPr id="20" name="Text 18"/>
          <p:cNvSpPr/>
          <p:nvPr/>
        </p:nvSpPr>
        <p:spPr>
          <a:xfrm>
            <a:off x="3474207" y="3278646"/>
            <a:ext cx="2195475" cy="320906"/>
          </a:xfrm>
          <a:prstGeom prst="rect">
            <a:avLst/>
          </a:prstGeom>
          <a:noFill/>
          <a:ln/>
        </p:spPr>
        <p:txBody>
          <a:bodyPr wrap="none" lIns="0" tIns="0" rIns="0" bIns="0" rtlCol="0" anchor="t"/>
          <a:lstStyle/>
          <a:p>
            <a:pPr algn="l" indent="0" marL="0">
              <a:lnSpc>
                <a:spcPts val="2340"/>
              </a:lnSpc>
              <a:buNone/>
            </a:pPr>
            <a:r>
              <a:rPr lang="en-US" sz="2340" b="1" dirty="0">
                <a:solidFill>
                  <a:srgbClr val="FF7B54"/>
                </a:solidFill>
                <a:latin typeface="Liberation Sans Narrow" pitchFamily="34" charset="0"/>
                <a:ea typeface="Liberation Sans Narrow" pitchFamily="34" charset="-122"/>
                <a:cs typeface="Liberation Sans Narrow" pitchFamily="34" charset="-120"/>
              </a:rPr>
              <a:t>12</a:t>
            </a:r>
            <a:endParaRPr lang="en-US" sz="2340" dirty="0"/>
          </a:p>
        </p:txBody>
      </p:sp>
      <p:sp>
        <p:nvSpPr>
          <p:cNvPr id="21" name="Text 19"/>
          <p:cNvSpPr/>
          <p:nvPr/>
        </p:nvSpPr>
        <p:spPr>
          <a:xfrm>
            <a:off x="3474207" y="3632932"/>
            <a:ext cx="2195475" cy="181076"/>
          </a:xfrm>
          <a:prstGeom prst="rect">
            <a:avLst/>
          </a:prstGeom>
          <a:noFill/>
          <a:ln/>
        </p:spPr>
        <p:txBody>
          <a:bodyPr wrap="none" lIns="0" tIns="0" rIns="0" bIns="0" rtlCol="0" anchor="t">
            <a:normAutofit/>
          </a:bodyPr>
          <a:lstStyle/>
          <a:p>
            <a:pPr algn="l" indent="0" marL="0">
              <a:lnSpc>
                <a:spcPts val="1418"/>
              </a:lnSpc>
              <a:buNone/>
            </a:pPr>
            <a:r>
              <a:rPr lang="en-US" sz="945" dirty="0">
                <a:solidFill>
                  <a:srgbClr val="FFFFFF"/>
                </a:solidFill>
                <a:latin typeface="Carlito" pitchFamily="34" charset="0"/>
                <a:ea typeface="Carlito" pitchFamily="34" charset="-122"/>
                <a:cs typeface="Carlito" pitchFamily="34" charset="-120"/>
              </a:rPr>
              <a:t>secteurs d'activité</a:t>
            </a:r>
            <a:endParaRPr lang="en-US" sz="945" dirty="0"/>
          </a:p>
        </p:txBody>
      </p:sp>
      <p:sp>
        <p:nvSpPr>
          <p:cNvPr id="22" name="Text 20"/>
          <p:cNvSpPr/>
          <p:nvPr/>
        </p:nvSpPr>
        <p:spPr>
          <a:xfrm>
            <a:off x="3474207" y="3841440"/>
            <a:ext cx="2305203" cy="164516"/>
          </a:xfrm>
          <a:prstGeom prst="rect">
            <a:avLst/>
          </a:prstGeom>
          <a:noFill/>
          <a:ln/>
        </p:spPr>
        <p:txBody>
          <a:bodyPr wrap="square" lIns="0" tIns="0" rIns="0" bIns="0" rtlCol="0" anchor="t"/>
          <a:lstStyle/>
          <a:p>
            <a:pPr algn="l" indent="0" marL="0">
              <a:lnSpc>
                <a:spcPts val="1148"/>
              </a:lnSpc>
              <a:buNone/>
            </a:pPr>
            <a:r>
              <a:rPr lang="en-US" sz="800" dirty="0">
                <a:solidFill>
                  <a:srgbClr val="FFFFFF">
                    <a:alpha val="55000"/>
                  </a:srgbClr>
                </a:solidFill>
                <a:latin typeface="Carlito" pitchFamily="34" charset="0"/>
                <a:ea typeface="Carlito" pitchFamily="34" charset="-122"/>
                <a:cs typeface="Carlito" pitchFamily="34" charset="-120"/>
              </a:rPr>
              <a:t>Restauration, Commerce, Tech...</a:t>
            </a:r>
            <a:endParaRPr lang="en-US" sz="800" dirty="0"/>
          </a:p>
        </p:txBody>
      </p:sp>
      <p:sp>
        <p:nvSpPr>
          <p:cNvPr id="23" name="Text 21"/>
          <p:cNvSpPr/>
          <p:nvPr/>
        </p:nvSpPr>
        <p:spPr>
          <a:xfrm>
            <a:off x="6023297" y="3026494"/>
            <a:ext cx="2602781" cy="1212875"/>
          </a:xfrm>
          <a:prstGeom prst="roundRect">
            <a:avLst>
              <a:gd name="adj" fmla="val 12565"/>
            </a:avLst>
          </a:prstGeom>
          <a:solidFill>
            <a:srgbClr val="FFFFFF">
              <a:alpha val="6000"/>
            </a:srgbClr>
          </a:solidFill>
          <a:ln w="7144">
            <a:solidFill>
              <a:srgbClr val="FFFFFF"/>
            </a:solidFill>
            <a:prstDash val="solid"/>
          </a:ln>
        </p:spPr>
        <p:txBody>
          <a:bodyPr wrap="square" rtlCol="0" anchor="ctr"/>
          <a:lstStyle/>
          <a:p>
            <a:pPr indent="0" marL="0">
              <a:buNone/>
            </a:pPr>
            <a:endParaRPr lang="en-US" dirty="0"/>
          </a:p>
        </p:txBody>
      </p:sp>
      <p:sp>
        <p:nvSpPr>
          <p:cNvPr id="24" name="Text 22"/>
          <p:cNvSpPr/>
          <p:nvPr/>
        </p:nvSpPr>
        <p:spPr>
          <a:xfrm>
            <a:off x="6241182" y="3230091"/>
            <a:ext cx="2167012" cy="395045"/>
          </a:xfrm>
          <a:prstGeom prst="rect">
            <a:avLst/>
          </a:prstGeom>
          <a:noFill/>
          <a:ln/>
        </p:spPr>
        <p:txBody>
          <a:bodyPr wrap="none" lIns="0" tIns="0" rIns="0" bIns="0" rtlCol="0" anchor="t"/>
          <a:lstStyle/>
          <a:p>
            <a:pPr algn="l" indent="0" marL="0">
              <a:lnSpc>
                <a:spcPts val="2880"/>
              </a:lnSpc>
              <a:buNone/>
            </a:pPr>
            <a:r>
              <a:rPr lang="en-US" sz="2880" b="1" dirty="0">
                <a:solidFill>
                  <a:srgbClr val="FF7B54"/>
                </a:solidFill>
                <a:latin typeface="Liberation Sans Narrow" pitchFamily="34" charset="0"/>
                <a:ea typeface="Liberation Sans Narrow" pitchFamily="34" charset="-122"/>
                <a:cs typeface="Liberation Sans Narrow" pitchFamily="34" charset="-120"/>
              </a:rPr>
              <a:t>$152B</a:t>
            </a:r>
            <a:endParaRPr lang="en-US" sz="2880" dirty="0"/>
          </a:p>
        </p:txBody>
      </p:sp>
      <p:sp>
        <p:nvSpPr>
          <p:cNvPr id="25" name="Text 23"/>
          <p:cNvSpPr/>
          <p:nvPr/>
        </p:nvSpPr>
        <p:spPr>
          <a:xfrm>
            <a:off x="6241182" y="3667311"/>
            <a:ext cx="2276740" cy="194328"/>
          </a:xfrm>
          <a:prstGeom prst="rect">
            <a:avLst/>
          </a:prstGeom>
          <a:noFill/>
          <a:ln/>
        </p:spPr>
        <p:txBody>
          <a:bodyPr wrap="square" lIns="0" tIns="0" rIns="0" bIns="0" rtlCol="0" anchor="t"/>
          <a:lstStyle/>
          <a:p>
            <a:pPr algn="l" indent="0" marL="0">
              <a:lnSpc>
                <a:spcPts val="1418"/>
              </a:lnSpc>
              <a:buNone/>
            </a:pPr>
            <a:r>
              <a:rPr lang="en-US" sz="945" dirty="0">
                <a:solidFill>
                  <a:srgbClr val="FFFFFF"/>
                </a:solidFill>
                <a:latin typeface="Liberation Sans Narrow" pitchFamily="34" charset="0"/>
                <a:ea typeface="Liberation Sans Narrow" pitchFamily="34" charset="-122"/>
                <a:cs typeface="Liberation Sans Narrow" pitchFamily="34" charset="-120"/>
              </a:rPr>
              <a:t>Marché PME logiciel (2035)</a:t>
            </a:r>
            <a:endParaRPr lang="en-US" sz="945" dirty="0"/>
          </a:p>
        </p:txBody>
      </p:sp>
      <p:sp>
        <p:nvSpPr>
          <p:cNvPr id="26" name="Text 24"/>
          <p:cNvSpPr/>
          <p:nvPr/>
        </p:nvSpPr>
        <p:spPr>
          <a:xfrm>
            <a:off x="6241182" y="3890107"/>
            <a:ext cx="2276740" cy="145666"/>
          </a:xfrm>
          <a:prstGeom prst="rect">
            <a:avLst/>
          </a:prstGeom>
          <a:noFill/>
          <a:ln/>
        </p:spPr>
        <p:txBody>
          <a:bodyPr wrap="square" lIns="0" tIns="0" rIns="0" bIns="0" rtlCol="0" anchor="t"/>
          <a:lstStyle/>
          <a:p>
            <a:pPr algn="l" indent="0" marL="0">
              <a:lnSpc>
                <a:spcPts val="1148"/>
              </a:lnSpc>
              <a:buNone/>
            </a:pPr>
            <a:r>
              <a:rPr lang="en-US" sz="800" dirty="0">
                <a:solidFill>
                  <a:srgbClr val="FFFFFF">
                    <a:alpha val="55000"/>
                  </a:srgbClr>
                </a:solidFill>
                <a:latin typeface="Liberation Sans Narrow" pitchFamily="34" charset="0"/>
                <a:ea typeface="Liberation Sans Narrow" pitchFamily="34" charset="-122"/>
                <a:cs typeface="Liberation Sans Narrow" pitchFamily="34" charset="-120"/>
              </a:rPr>
              <a:t>CAGR 6.88% — Mordor Intelligence</a:t>
            </a:r>
            <a:endParaRPr lang="en-US" sz="800" dirty="0"/>
          </a:p>
        </p:txBody>
      </p:sp>
      <p:sp>
        <p:nvSpPr>
          <p:cNvPr id="27" name="Text 25"/>
          <p:cNvSpPr/>
          <p:nvPr/>
        </p:nvSpPr>
        <p:spPr>
          <a:xfrm>
            <a:off x="514350" y="4385816"/>
            <a:ext cx="6429375" cy="164516"/>
          </a:xfrm>
          <a:prstGeom prst="rect">
            <a:avLst/>
          </a:prstGeom>
          <a:noFill/>
          <a:ln/>
        </p:spPr>
        <p:txBody>
          <a:bodyPr wrap="square" lIns="0" tIns="0" rIns="0" bIns="0" rtlCol="0" anchor="t"/>
          <a:lstStyle/>
          <a:p>
            <a:pPr algn="l" indent="0" marL="0">
              <a:lnSpc>
                <a:spcPts val="1148"/>
              </a:lnSpc>
              <a:buNone/>
            </a:pPr>
            <a:r>
              <a:rPr lang="en-US" sz="800" i="1" dirty="0">
                <a:solidFill>
                  <a:srgbClr val="FFFFFF">
                    <a:alpha val="55000"/>
                  </a:srgbClr>
                </a:solidFill>
                <a:latin typeface="Carlito" pitchFamily="34" charset="0"/>
                <a:ea typeface="Carlito" pitchFamily="34" charset="-122"/>
                <a:cs typeface="Carlito" pitchFamily="34" charset="-120"/>
              </a:rPr>
              <a:t>ProCible cible le segment le plus sous-desservi du CRM : les micro-entreprises et vendeurs indépendants africains.</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0A1A"/>
        </a:solidFill>
      </p:bgPr>
    </p:bg>
    <p:spTree>
      <p:nvGrpSpPr>
        <p:cNvPr id="1" name=""/>
        <p:cNvGrpSpPr/>
        <p:nvPr/>
      </p:nvGrpSpPr>
      <p:grpSpPr>
        <a:xfrm>
          <a:off x="0" y="0"/>
          <a:ext cx="0" cy="0"/>
          <a:chOff x="0" y="0"/>
          <a:chExt cx="0" cy="0"/>
        </a:xfrm>
      </p:grpSpPr>
      <p:sp>
        <p:nvSpPr>
          <p:cNvPr id="2" name="Text 0"/>
          <p:cNvSpPr/>
          <p:nvPr/>
        </p:nvSpPr>
        <p:spPr>
          <a:xfrm>
            <a:off x="5572125" y="-857250"/>
            <a:ext cx="4286250" cy="4286250"/>
          </a:xfrm>
          <a:prstGeom prst="ellipse">
            <a:avLst/>
          </a:prstGeom>
          <a:solidFill>
            <a:srgbClr val="FFFFFF">
              <a:alpha val="0"/>
            </a:srgbClr>
          </a:solidFill>
          <a:ln/>
        </p:spPr>
        <p:txBody>
          <a:bodyPr wrap="square" rtlCol="0" anchor="ctr"/>
          <a:lstStyle/>
          <a:p>
            <a:pPr indent="0" marL="0">
              <a:buNone/>
            </a:pPr>
            <a:endParaRPr lang="en-US" dirty="0"/>
          </a:p>
        </p:txBody>
      </p:sp>
      <p:sp>
        <p:nvSpPr>
          <p:cNvPr id="3" name="Text 1"/>
          <p:cNvSpPr/>
          <p:nvPr/>
        </p:nvSpPr>
        <p:spPr>
          <a:xfrm>
            <a:off x="-857250" y="1500188"/>
            <a:ext cx="4643438" cy="4643438"/>
          </a:xfrm>
          <a:prstGeom prst="ellipse">
            <a:avLst/>
          </a:prstGeom>
          <a:solidFill>
            <a:srgbClr val="FFFFFF">
              <a:alpha val="0"/>
            </a:srgbClr>
          </a:solidFill>
          <a:ln/>
        </p:spPr>
        <p:txBody>
          <a:bodyPr wrap="square" rtlCol="0" anchor="ctr"/>
          <a:lstStyle/>
          <a:p>
            <a:pPr indent="0" marL="0">
              <a:buNone/>
            </a:pPr>
            <a:endParaRPr lang="en-US" dirty="0"/>
          </a:p>
        </p:txBody>
      </p:sp>
      <p:sp>
        <p:nvSpPr>
          <p:cNvPr id="4" name="Text 2"/>
          <p:cNvSpPr/>
          <p:nvPr/>
        </p:nvSpPr>
        <p:spPr>
          <a:xfrm>
            <a:off x="4048408" y="731265"/>
            <a:ext cx="1047073" cy="256994"/>
          </a:xfrm>
          <a:prstGeom prst="roundRect">
            <a:avLst>
              <a:gd name="adj" fmla="val 3702606"/>
            </a:avLst>
          </a:prstGeom>
          <a:solidFill>
            <a:srgbClr val="6C3FA9">
              <a:alpha val="22000"/>
            </a:srgbClr>
          </a:solidFill>
          <a:ln/>
        </p:spPr>
        <p:txBody>
          <a:bodyPr wrap="square" rtlCol="0" anchor="ctr"/>
          <a:lstStyle/>
          <a:p>
            <a:pPr indent="0" marL="0">
              <a:buNone/>
            </a:pPr>
            <a:endParaRPr lang="en-US" dirty="0"/>
          </a:p>
        </p:txBody>
      </p:sp>
      <p:sp>
        <p:nvSpPr>
          <p:cNvPr id="5" name="Text 3"/>
          <p:cNvSpPr/>
          <p:nvPr/>
        </p:nvSpPr>
        <p:spPr>
          <a:xfrm>
            <a:off x="4071268" y="744066"/>
            <a:ext cx="1001353" cy="231391"/>
          </a:xfrm>
          <a:prstGeom prst="rect">
            <a:avLst/>
          </a:prstGeom>
          <a:noFill/>
          <a:ln/>
        </p:spPr>
        <p:txBody>
          <a:bodyPr wrap="none" lIns="0" tIns="0" rIns="0" bIns="0" rtlCol="0" anchor="ctr"/>
          <a:lstStyle/>
          <a:p>
            <a:pPr algn="ctr" indent="0" marL="0">
              <a:lnSpc>
                <a:spcPts val="1148"/>
              </a:lnSpc>
              <a:buNone/>
            </a:pPr>
            <a:r>
              <a:rPr lang="en-US" sz="800" spc="31" kern="0" dirty="0">
                <a:solidFill>
                  <a:srgbClr val="A78BFA"/>
                </a:solidFill>
                <a:latin typeface="Carlito" pitchFamily="34" charset="0"/>
                <a:ea typeface="Carlito" pitchFamily="34" charset="-122"/>
                <a:cs typeface="Carlito" pitchFamily="34" charset="-120"/>
              </a:rPr>
              <a:t>OPPORTUNITÉ</a:t>
            </a:r>
            <a:endParaRPr lang="en-US" sz="800" dirty="0"/>
          </a:p>
        </p:txBody>
      </p:sp>
      <p:sp>
        <p:nvSpPr>
          <p:cNvPr id="6" name="Text 4"/>
          <p:cNvSpPr/>
          <p:nvPr/>
        </p:nvSpPr>
        <p:spPr>
          <a:xfrm>
            <a:off x="274320" y="1175482"/>
            <a:ext cx="8595360" cy="814682"/>
          </a:xfrm>
          <a:prstGeom prst="rect">
            <a:avLst/>
          </a:prstGeom>
          <a:noFill/>
          <a:ln/>
        </p:spPr>
        <p:txBody>
          <a:bodyPr wrap="square" lIns="0" tIns="0" rIns="0" bIns="0" rtlCol="0" anchor="t"/>
          <a:lstStyle/>
          <a:p>
            <a:pPr algn="ctr" indent="0" marL="0">
              <a:lnSpc>
                <a:spcPts val="2970"/>
              </a:lnSpc>
              <a:buNone/>
            </a:pPr>
            <a:r>
              <a:rPr lang="en-US" sz="2700" b="1" dirty="0">
                <a:solidFill>
                  <a:srgbClr val="FF7B54"/>
                </a:solidFill>
                <a:latin typeface="Carlito" pitchFamily="34" charset="0"/>
                <a:ea typeface="Carlito" pitchFamily="34" charset="-122"/>
                <a:cs typeface="Carlito" pitchFamily="34" charset="-120"/>
              </a:rPr>
              <a:t>Rejoignez l'avenir de la prospection africaine</a:t>
            </a:r>
            <a:endParaRPr lang="en-US" sz="2700" dirty="0"/>
          </a:p>
        </p:txBody>
      </p:sp>
      <p:pic>
        <p:nvPicPr>
          <p:cNvPr id="7" name="Image 0" descr="preencoded.png">    </p:cNvPr>
          <p:cNvPicPr>
            <a:picLocks noChangeAspect="1"/>
          </p:cNvPicPr>
          <p:nvPr/>
        </p:nvPicPr>
        <p:blipFill>
          <a:blip r:embed="rId1"/>
          <a:stretch>
            <a:fillRect/>
          </a:stretch>
        </p:blipFill>
        <p:spPr>
          <a:xfrm>
            <a:off x="4343400" y="2101267"/>
            <a:ext cx="457200" cy="21431"/>
          </a:xfrm>
          <a:prstGeom prst="rect">
            <a:avLst/>
          </a:prstGeom>
        </p:spPr>
      </p:pic>
      <p:sp>
        <p:nvSpPr>
          <p:cNvPr id="8" name="Text 5"/>
          <p:cNvSpPr/>
          <p:nvPr/>
        </p:nvSpPr>
        <p:spPr>
          <a:xfrm>
            <a:off x="2286000" y="2322723"/>
            <a:ext cx="4572000" cy="641210"/>
          </a:xfrm>
          <a:prstGeom prst="rect">
            <a:avLst/>
          </a:prstGeom>
          <a:noFill/>
          <a:ln/>
        </p:spPr>
        <p:txBody>
          <a:bodyPr wrap="square" lIns="0" tIns="0" rIns="0" bIns="0" rtlCol="0" anchor="t"/>
          <a:lstStyle/>
          <a:p>
            <a:pPr algn="ctr" indent="0" marL="0">
              <a:lnSpc>
                <a:spcPts val="1559"/>
              </a:lnSpc>
              <a:buNone/>
            </a:pPr>
            <a:r>
              <a:rPr lang="en-US" sz="945" dirty="0">
                <a:solidFill>
                  <a:srgbClr val="FFFFFF">
                    <a:alpha val="55000"/>
                  </a:srgbClr>
                </a:solidFill>
                <a:latin typeface="Carlito" pitchFamily="34" charset="0"/>
                <a:ea typeface="Carlito" pitchFamily="34" charset="-122"/>
                <a:cs typeface="Carlito" pitchFamily="34" charset="-120"/>
              </a:rPr>
              <a:t>ProCible est la première solution pensée pour les millions de vendeurs et prestataires africains. Un marché immense, une technologie unique, et une équipe qui execute. Nous recherchons des partenaires stratégiques pour accélérer notre déploiement.</a:t>
            </a:r>
            <a:endParaRPr lang="en-US" sz="945" dirty="0"/>
          </a:p>
        </p:txBody>
      </p:sp>
      <p:pic>
        <p:nvPicPr>
          <p:cNvPr id="9" name="Image 1" descr="preencoded.png">    </p:cNvPr>
          <p:cNvPicPr>
            <a:picLocks noChangeAspect="1"/>
          </p:cNvPicPr>
          <p:nvPr/>
        </p:nvPicPr>
        <p:blipFill>
          <a:blip r:embed="rId2"/>
          <a:stretch>
            <a:fillRect/>
          </a:stretch>
        </p:blipFill>
        <p:spPr>
          <a:xfrm>
            <a:off x="4961334" y="3202186"/>
            <a:ext cx="1346708" cy="417128"/>
          </a:xfrm>
          <a:prstGeom prst="rect">
            <a:avLst/>
          </a:prstGeom>
        </p:spPr>
      </p:pic>
      <p:sp>
        <p:nvSpPr>
          <p:cNvPr id="10" name="Text 6"/>
          <p:cNvSpPr/>
          <p:nvPr/>
        </p:nvSpPr>
        <p:spPr>
          <a:xfrm>
            <a:off x="3696681" y="3962214"/>
            <a:ext cx="1750638" cy="164516"/>
          </a:xfrm>
          <a:prstGeom prst="rect">
            <a:avLst/>
          </a:prstGeom>
          <a:noFill/>
          <a:ln/>
        </p:spPr>
        <p:txBody>
          <a:bodyPr wrap="square" lIns="0" tIns="0" rIns="0" bIns="0" rtlCol="0" anchor="t"/>
          <a:lstStyle/>
          <a:p>
            <a:pPr algn="ctr" indent="0" marL="0">
              <a:lnSpc>
                <a:spcPts val="1148"/>
              </a:lnSpc>
              <a:buNone/>
            </a:pPr>
            <a:r>
              <a:rPr lang="en-US" sz="800" dirty="0">
                <a:solidFill>
                  <a:srgbClr val="FFFFFF">
                    <a:alpha val="55000"/>
                  </a:srgbClr>
                </a:solidFill>
                <a:latin typeface="Carlito" pitchFamily="34" charset="0"/>
                <a:ea typeface="Carlito" pitchFamily="34" charset="-122"/>
                <a:cs typeface="Carlito" pitchFamily="34" charset="-120"/>
              </a:rPr>
              <a:t>contact@procible.app — procible.app</a:t>
            </a:r>
            <a:endParaRPr lang="en-US" sz="800" dirty="0"/>
          </a:p>
        </p:txBody>
      </p:sp>
      <p:sp>
        <p:nvSpPr>
          <p:cNvPr id="11" name="Text 7"/>
          <p:cNvSpPr/>
          <p:nvPr/>
        </p:nvSpPr>
        <p:spPr>
          <a:xfrm>
            <a:off x="4003366" y="4279329"/>
            <a:ext cx="1137156" cy="164561"/>
          </a:xfrm>
          <a:prstGeom prst="rect">
            <a:avLst/>
          </a:prstGeom>
          <a:noFill/>
          <a:ln/>
        </p:spPr>
        <p:txBody>
          <a:bodyPr wrap="square" lIns="0" tIns="0" rIns="0" bIns="0" rtlCol="0" anchor="t"/>
          <a:lstStyle/>
          <a:p>
            <a:pPr algn="ctr" indent="0" marL="0">
              <a:lnSpc>
                <a:spcPts val="945"/>
              </a:lnSpc>
              <a:buNone/>
            </a:pPr>
            <a:r>
              <a:rPr lang="en-US" sz="800" dirty="0">
                <a:solidFill>
                  <a:srgbClr val="FFFFFF">
                    <a:alpha val="35000"/>
                  </a:srgbClr>
                </a:solidFill>
                <a:latin typeface="Liberation Sans Narrow" pitchFamily="34" charset="0"/>
                <a:ea typeface="Liberation Sans Narrow" pitchFamily="34" charset="-122"/>
                <a:cs typeface="Liberation Sans Narrow" pitchFamily="34" charset="-120"/>
              </a:rPr>
              <a:t>Confidentiel — ProCible 2025</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2026-06-15T12:33:38Z</dcterms:created>
  <dcterms:modified xsi:type="dcterms:W3CDTF">2026-06-15T12:33:38Z</dcterms:modified>
</cp:coreProperties>
</file>